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1" r:id="rId9"/>
    <p:sldId id="279" r:id="rId24"/>
    <p:sldId id="280" r:id="rId25"/>
    <p:sldId id="283" r:id="rId28"/>
    <p:sldId id="284" r:id="rId29"/>
    <p:sldId id="285" r:id="rId30"/>
    <p:sldId id="286" r:id="rId31"/>
    <p:sldId id="282" r:id="rId27"/>
    <p:sldId id="281" r:id="rId26"/>
    <p:sldId id="287" r:id="rId32"/>
    <p:sldId id="288" r:id="rId33"/>
    <p:sldId id="289" r:id="rId34"/>
    <p:sldId id="264" r:id="rId10"/>
    <p:sldId id="265" r:id="rId11"/>
    <p:sldId id="266" r:id="rId12"/>
    <p:sldId id="277" r:id="rId13"/>
    <p:sldId id="278" r:id="rId14"/>
    <p:sldId id="267" r:id="rId15"/>
    <p:sldId id="275" r:id="rId16"/>
    <p:sldId id="276" r:id="rId17"/>
    <p:sldId id="268" r:id="rId18"/>
    <p:sldId id="270" r:id="rId19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7.xml"/><Relationship Id="rId11" Type="http://schemas.openxmlformats.org/officeDocument/2006/relationships/slide" Target="slides/slide18.xml"/><Relationship Id="rId12" Type="http://schemas.openxmlformats.org/officeDocument/2006/relationships/slide" Target="slides/slide19.xml"/><Relationship Id="rId13" Type="http://schemas.openxmlformats.org/officeDocument/2006/relationships/slide" Target="slides/slide20.xml"/><Relationship Id="rId14" Type="http://schemas.openxmlformats.org/officeDocument/2006/relationships/slide" Target="slides/slide21.xml"/><Relationship Id="rId15" Type="http://schemas.openxmlformats.org/officeDocument/2006/relationships/slide" Target="slides/slide22.xml"/><Relationship Id="rId16" Type="http://schemas.openxmlformats.org/officeDocument/2006/relationships/slide" Target="slides/slide23.xml"/><Relationship Id="rId17" Type="http://schemas.openxmlformats.org/officeDocument/2006/relationships/slide" Target="slides/slide24.xml"/><Relationship Id="rId18" Type="http://schemas.openxmlformats.org/officeDocument/2006/relationships/slide" Target="slides/slide25.xml"/><Relationship Id="rId19" Type="http://schemas.openxmlformats.org/officeDocument/2006/relationships/slide" Target="slides/slide2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6.xml"/><Relationship Id="rId27" Type="http://schemas.openxmlformats.org/officeDocument/2006/relationships/slide" Target="slides/slide15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98A7-FD20-1798-5A0E-2F80BC08D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7C1EF-8B42-46D6-756C-63F5510AA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53586-AB36-07C3-B10B-E1BED90EF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7AB40-2E92-E5D4-BF4C-E35E0919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39F14-BF31-9E06-9FEF-054A54BF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23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4836-3B75-348E-A1F6-CEEF7A0B1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0A834-7B1B-026B-4D19-2D15D0F2C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55579-A449-2037-279B-BD1002AE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6E98B-90D0-D6A2-7C76-D0BC3E7BC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7543C-923A-B56D-A64C-B49EAA2A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717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6D38-31ED-DCD9-AABE-A73F83C6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922E2-1CD9-3AAC-6381-5573C2104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FAC8E-255E-DF65-080D-0E05D6C9A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02980-2F8C-F7D1-C44B-614C326F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D627-F1AC-5C4E-D7BB-226B9BCD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50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5016-E00C-4968-D613-080FD963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6D744-393C-C1F4-B298-D4482F4C2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1370F-0DDB-682F-C174-0AC556A3E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81568-B497-8785-936D-57D69084B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9AB2B-D3B1-AB6B-F984-32BD20691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9997F-7516-9F61-E9DC-2278BC18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34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08DF-D923-0C88-4242-B56BE217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E7633-E57A-36E3-0246-C7ABEF17B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C7BBA-056A-78FB-1547-0868BD4EC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DF84BB-F650-1B9C-25BF-0F72585C4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1602C-F885-AE06-23D8-0A0B0EF4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375C5B-6146-813A-ABDF-9A04F29D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DFE52D-2A4B-7964-045E-21B967EF7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6862E-21B4-3490-4003-FBF5A529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94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E4B2-1311-8098-95E0-7F7BB44D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1726E-0688-5E8C-242A-C64D003BD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57D7B3-9781-D40C-E92C-6D599F7D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EEC40-23BA-AE31-01C7-6901189C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6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BCC35-D09E-AA4D-CCB3-287E8669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BA1F0-771A-34BD-E454-B9CC7EA51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82B02-75B8-E635-9625-D69447A3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34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79F4-93DF-1F7F-9C0D-1E02C890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2E230-266C-E410-2105-EA6776A0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01F84-A6B7-CDC0-109D-B46B0118C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AAD06-9833-D020-BAC3-00AEF294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8042C-1A13-BBD0-8367-0338063A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E2C78-A485-FB39-456F-D6C5D6142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50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885F-8344-D866-9D84-12945299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88893-0AA4-88FD-0950-6F1B20E65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3BA0A-21D0-FDC1-E37C-9DF00AAF8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67A6A-552B-1FF4-3018-78D0AEAE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1D3B6-A375-06B8-FE68-10CD5A03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CB276-273D-5FAD-2B89-5AD6C25E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23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8D2C9-2EAC-BF2D-3325-1116EDE2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9BA00-F11C-475C-F95E-09DBB3D10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CD505-8B20-0320-E624-A99A1EC2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F8971-2E2A-A44B-A086-8C0843DA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7A460-3A66-681D-D2D5-9F06D9998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18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AF29E-3798-CC3D-1229-BE386D9FC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3B599-6B67-5979-D914-18CD7BE39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BF44D-D63B-83BE-ADD3-EF7CEF08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FACDE-8801-ECE9-D065-5B908A66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7634A-755E-FB59-16C6-C27DD514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197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EC5956-ED54-740F-1AFB-EDEA583C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A87F0-05AE-89C2-4BCC-F2F214E92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3CDF-5E6A-4B0A-ABEA-04B97BBAC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20548-7BE0-AC77-963D-29E4D1297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DF45-C597-4812-B3A6-AF009FBF6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19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AE38-248F-F240-F227-D607C501D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Intelligent Threat Analysis and Surveillance System Using Multi-Module AI Fusion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00719-165A-63B4-DA49-93F3804E7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859" y="3839848"/>
            <a:ext cx="4222282" cy="16557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1800" dirty="0"/>
              <a:t>Batch ID : </a:t>
            </a:r>
            <a:r>
              <a:rPr lang="en-IN" sz="1800" b="1" dirty="0"/>
              <a:t>ECE002</a:t>
            </a:r>
          </a:p>
          <a:p>
            <a:pPr algn="just"/>
            <a:r>
              <a:rPr lang="en-IN" sz="1800" dirty="0"/>
              <a:t>Akash S - CB.EN.U4ECE23202</a:t>
            </a:r>
          </a:p>
          <a:p>
            <a:pPr algn="just"/>
            <a:r>
              <a:rPr lang="en-IN" sz="1800" dirty="0"/>
              <a:t>Harish Venkat - CB.EN.U4ECE23219</a:t>
            </a:r>
          </a:p>
          <a:p>
            <a:pPr algn="just"/>
            <a:r>
              <a:rPr lang="en-IN" sz="1800" dirty="0" err="1"/>
              <a:t>Krithash</a:t>
            </a:r>
            <a:r>
              <a:rPr lang="en-IN" sz="1800" dirty="0"/>
              <a:t> V - CB.EN.U4ECE232058</a:t>
            </a:r>
          </a:p>
          <a:p>
            <a:pPr algn="just"/>
            <a:r>
              <a:rPr lang="en-IN" sz="1800" dirty="0"/>
              <a:t>Faculty Mentor : </a:t>
            </a:r>
            <a:r>
              <a:rPr lang="en-IN" sz="1800" b="1" dirty="0"/>
              <a:t>Anila Satheesh B</a:t>
            </a:r>
          </a:p>
        </p:txBody>
      </p:sp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4CF4B730-B2C1-9BE2-9DDA-ADFE4BAE1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94" y="792478"/>
            <a:ext cx="5715012" cy="126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2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7" name="Agenda Item 1"/>
          <p:cNvSpPr txBox="1"/>
          <p:nvPr/>
        </p:nvSpPr>
        <p:spPr>
          <a:xfrm>
            <a:off x="1828800" y="14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Motivation</a:t>
            </a:r>
          </a:p>
        </p:txBody>
      </p:sp>
      <p:sp>
        <p:nvSpPr>
          <p:cNvPr id="8" name="Agenda Item 2"/>
          <p:cNvSpPr txBox="1"/>
          <p:nvPr/>
        </p:nvSpPr>
        <p:spPr>
          <a:xfrm>
            <a:off x="1828800" y="240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Objective</a:t>
            </a:r>
          </a:p>
        </p:txBody>
      </p:sp>
      <p:sp>
        <p:nvSpPr>
          <p:cNvPr id="9" name="Agenda Item 3"/>
          <p:cNvSpPr txBox="1"/>
          <p:nvPr/>
        </p:nvSpPr>
        <p:spPr>
          <a:xfrm>
            <a:off x="1828800" y="33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Milestones / Deliverables</a:t>
            </a:r>
          </a:p>
        </p:txBody>
      </p:sp>
      <p:sp>
        <p:nvSpPr>
          <p:cNvPr id="10" name="Agenda Item 4"/>
          <p:cNvSpPr txBox="1"/>
          <p:nvPr/>
        </p:nvSpPr>
        <p:spPr>
          <a:xfrm>
            <a:off x="1828800" y="430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Novelty / Contribution</a:t>
            </a:r>
          </a:p>
        </p:txBody>
      </p:sp>
      <p:sp>
        <p:nvSpPr>
          <p:cNvPr id="11" name="Agenda Item 5"/>
          <p:cNvSpPr txBox="1"/>
          <p:nvPr/>
        </p:nvSpPr>
        <p:spPr>
          <a:xfrm>
            <a:off x="1828800" y="52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Methodology</a:t>
            </a:r>
          </a:p>
        </p:txBody>
      </p:sp>
      <p:sp>
        <p:nvSpPr>
          <p:cNvPr id="12" name="Agenda Item 6"/>
          <p:cNvSpPr txBox="1"/>
          <p:nvPr/>
        </p:nvSpPr>
        <p:spPr>
          <a:xfrm>
            <a:off x="6296000" y="14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Dataset</a:t>
            </a:r>
          </a:p>
        </p:txBody>
      </p:sp>
      <p:sp>
        <p:nvSpPr>
          <p:cNvPr id="13" name="Agenda Item 7"/>
          <p:cNvSpPr txBox="1"/>
          <p:nvPr/>
        </p:nvSpPr>
        <p:spPr>
          <a:xfrm>
            <a:off x="6296000" y="240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Model Selection</a:t>
            </a:r>
          </a:p>
        </p:txBody>
      </p:sp>
      <p:sp>
        <p:nvSpPr>
          <p:cNvPr id="15" name="Agenda Item 9"/>
          <p:cNvSpPr txBox="1"/>
          <p:nvPr/>
        </p:nvSpPr>
        <p:spPr>
          <a:xfrm>
            <a:off x="6296000" y="33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08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	Results</a:t>
            </a:r>
          </a:p>
        </p:txBody>
      </p:sp>
      <p:sp>
        <p:nvSpPr>
          <p:cNvPr id="16" name="Agenda Item 10"/>
          <p:cNvSpPr txBox="1"/>
          <p:nvPr/>
        </p:nvSpPr>
        <p:spPr>
          <a:xfrm>
            <a:off x="6296000" y="430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09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	Literature Survey</a:t>
            </a:r>
          </a:p>
        </p:txBody>
      </p:sp>
      <p:sp>
        <p:nvSpPr>
          <p:cNvPr id="17" name="Agenda Item 11"/>
          <p:cNvSpPr txBox="1"/>
          <p:nvPr/>
        </p:nvSpPr>
        <p:spPr>
          <a:xfrm>
            <a:off x="6296000" y="52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noAutofit/>
          </a:bodyPr>
          <a:lstStyle/>
          <a:p>
            <a:r>
              <a:rPr sz="1600" b="1">
                <a:solidFill>
                  <a:srgbClr val="000000"/>
                </a:solidFill>
                <a:latin typeface="Times New Roman"/>
              </a:rPr>
              <a:t>10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	Research Gap</a:t>
            </a:r>
          </a:p>
        </p:txBody>
      </p:sp>
    </p:spTree>
    <p:extLst>
      <p:ext uri="{BB962C8B-B14F-4D97-AF65-F5344CB8AC3E}">
        <p14:creationId xmlns:p14="http://schemas.microsoft.com/office/powerpoint/2010/main" val="149347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1" y="48429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Headline"/>
          <p:cNvSpPr txBox="1"/>
          <p:nvPr/>
        </p:nvSpPr>
        <p:spPr>
          <a:xfrm>
            <a:off x="800100" y="1600200"/>
            <a:ext cx="10591800" cy="1143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“Manual CCTV monitoring is too slow to stop an active threat.”</a:t>
            </a:r>
          </a:p>
        </p:txBody>
      </p:sp>
      <p:cxnSp>
        <p:nvCxnSpPr>
          <p:cNvPr id="20" name="Divider"/>
          <p:cNvCxnSpPr/>
          <p:nvPr/>
        </p:nvCxnSpPr>
        <p:spPr>
          <a:xfrm>
            <a:off x="800100" y="2895600"/>
            <a:ext cx="1059180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oint 1"/>
          <p:cNvSpPr txBox="1"/>
          <p:nvPr/>
        </p:nvSpPr>
        <p:spPr>
          <a:xfrm>
            <a:off x="800100" y="3200400"/>
            <a:ext cx="3297266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CCTV systems rely on continuous human monitoring, making them prone to delayed responses and missed security threats.</a:t>
            </a:r>
          </a:p>
        </p:txBody>
      </p:sp>
      <p:sp>
        <p:nvSpPr>
          <p:cNvPr id="6" name="Point 2"/>
          <p:cNvSpPr txBox="1"/>
          <p:nvPr/>
        </p:nvSpPr>
        <p:spPr>
          <a:xfrm>
            <a:off x="4447366" y="3200400"/>
            <a:ext cx="3297266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growing demand for intelligent surveillance capable of automatically detecting weapons, tracking individuals, and assessing threats in real time.</a:t>
            </a:r>
          </a:p>
        </p:txBody>
      </p:sp>
      <p:sp>
        <p:nvSpPr>
          <p:cNvPr id="7" name="Point 3"/>
          <p:cNvSpPr txBox="1"/>
          <p:nvPr/>
        </p:nvSpPr>
        <p:spPr>
          <a:xfrm>
            <a:off x="8094632" y="3200400"/>
            <a:ext cx="3297266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AI with surveillance transforms passive CCTV infrastructure into an intelligent, automated system that improves response time and reduces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781180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82239-D968-D008-8F0D-4A1B725C55CF}"/>
              </a:ext>
            </a:extLst>
          </p:cNvPr>
          <p:cNvSpPr txBox="1"/>
          <p:nvPr/>
        </p:nvSpPr>
        <p:spPr>
          <a:xfrm>
            <a:off x="556661" y="599793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C553B-83AC-C3E2-E8CD-F4994D862682}"/>
              </a:ext>
            </a:extLst>
          </p:cNvPr>
          <p:cNvSpPr txBox="1"/>
          <p:nvPr/>
        </p:nvSpPr>
        <p:spPr>
          <a:xfrm>
            <a:off x="800100" y="1600200"/>
            <a:ext cx="105918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Detect persons and weapons (guns and knives) in real-time video streams, and perform robust multi-person tracking with stable identity assignment across consecutive frames.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Re-identify individuals who leave and later re-enter the camera's field of view, preserving their identity and threat history throughout the surveillance session.</a:t>
            </a:r>
          </a:p>
          <a:p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Estimate human pose to detect arm-raised behaviour and accurately associate detected weapons with the corresponding individuals using spatial and pose- based analysis.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Assess the threat level of each tracked individual based on weapon presence and behavioural cues, and automatically generate alerts, record evidence, and log security events for post-incident analysis.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425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 / Deliverables</a:t>
            </a:r>
          </a:p>
        </p:txBody>
      </p:sp>
      <p:cxnSp>
        <p:nvCxnSpPr>
          <p:cNvPr id="200" name="Timeline Line"/>
          <p:cNvCxnSpPr/>
          <p:nvPr/>
        </p:nvCxnSpPr>
        <p:spPr>
          <a:xfrm>
            <a:off x="900000" y="3600000"/>
            <a:ext cx="10392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Node 1"/>
          <p:cNvSpPr/>
          <p:nvPr/>
        </p:nvSpPr>
        <p:spPr>
          <a:xfrm>
            <a:off x="823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0" name="Connector 1"/>
          <p:cNvCxnSpPr/>
          <p:nvPr/>
        </p:nvCxnSpPr>
        <p:spPr>
          <a:xfrm>
            <a:off x="900000" y="335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Label 1"/>
          <p:cNvSpPr txBox="1"/>
          <p:nvPr/>
        </p:nvSpPr>
        <p:spPr>
          <a:xfrm>
            <a:off x="67120" y="1261900"/>
            <a:ext cx="2200000" cy="205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 – Jul 2026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Detection Pipeline Development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person &amp;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DeepSORT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OSNet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re-identification integrated; persistent identity across occlusions achieved ; real-time pipeline optimized.</a:t>
            </a:r>
          </a:p>
        </p:txBody>
      </p:sp>
      <p:sp>
        <p:nvSpPr>
          <p:cNvPr id="211" name="Node 2"/>
          <p:cNvSpPr/>
          <p:nvPr/>
        </p:nvSpPr>
        <p:spPr>
          <a:xfrm>
            <a:off x="3421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1" name="Connector 2"/>
          <p:cNvCxnSpPr/>
          <p:nvPr/>
        </p:nvCxnSpPr>
        <p:spPr>
          <a:xfrm>
            <a:off x="3498000" y="360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Label 2"/>
          <p:cNvSpPr txBox="1"/>
          <p:nvPr/>
        </p:nvSpPr>
        <p:spPr>
          <a:xfrm>
            <a:off x="2398000" y="3900000"/>
            <a:ext cx="2200000" cy="20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 – Sep 2026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&amp; Identity Management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weapon detection integrated; custom dataset trained, weapon-person association,</a:t>
            </a:r>
          </a:p>
        </p:txBody>
      </p:sp>
      <p:sp>
        <p:nvSpPr>
          <p:cNvPr id="212" name="Node 3"/>
          <p:cNvSpPr/>
          <p:nvPr/>
        </p:nvSpPr>
        <p:spPr>
          <a:xfrm>
            <a:off x="6019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2" name="Connector 3"/>
          <p:cNvCxnSpPr/>
          <p:nvPr/>
        </p:nvCxnSpPr>
        <p:spPr>
          <a:xfrm>
            <a:off x="6096000" y="335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Label 3"/>
          <p:cNvSpPr txBox="1"/>
          <p:nvPr/>
        </p:nvSpPr>
        <p:spPr>
          <a:xfrm>
            <a:off x="4996000" y="1300000"/>
            <a:ext cx="2200000" cy="205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 – Nov 2026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Intelligence &amp; Decision Engine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 and hysteresis-based Threat State Machine developed.</a:t>
            </a:r>
          </a:p>
        </p:txBody>
      </p:sp>
      <p:sp>
        <p:nvSpPr>
          <p:cNvPr id="213" name="Node 4"/>
          <p:cNvSpPr/>
          <p:nvPr/>
        </p:nvSpPr>
        <p:spPr>
          <a:xfrm>
            <a:off x="8617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3" name="Connector 4"/>
          <p:cNvCxnSpPr/>
          <p:nvPr/>
        </p:nvCxnSpPr>
        <p:spPr>
          <a:xfrm>
            <a:off x="8694000" y="360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Label 4"/>
          <p:cNvSpPr txBox="1"/>
          <p:nvPr/>
        </p:nvSpPr>
        <p:spPr>
          <a:xfrm>
            <a:off x="7594000" y="3900000"/>
            <a:ext cx="2200000" cy="20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 2026 – Jan 2027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&amp; Validation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modules unified; alert management (logging, screenshots, recording) implemented and validated.</a:t>
            </a:r>
          </a:p>
        </p:txBody>
      </p:sp>
      <p:sp>
        <p:nvSpPr>
          <p:cNvPr id="214" name="Node 5"/>
          <p:cNvSpPr/>
          <p:nvPr/>
        </p:nvSpPr>
        <p:spPr>
          <a:xfrm>
            <a:off x="11215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4" name="Connector 5"/>
          <p:cNvCxnSpPr/>
          <p:nvPr/>
        </p:nvCxnSpPr>
        <p:spPr>
          <a:xfrm>
            <a:off x="11292000" y="335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Label 5"/>
          <p:cNvSpPr txBox="1"/>
          <p:nvPr/>
        </p:nvSpPr>
        <p:spPr>
          <a:xfrm>
            <a:off x="9742000" y="1300000"/>
            <a:ext cx="2200000" cy="205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 – Mar 2027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Dissemination &amp; Closure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Benchmarking, final research paper, documentation, and project report submission completed.</a:t>
            </a:r>
          </a:p>
        </p:txBody>
      </p:sp>
    </p:spTree>
    <p:extLst>
      <p:ext uri="{BB962C8B-B14F-4D97-AF65-F5344CB8AC3E}">
        <p14:creationId xmlns:p14="http://schemas.microsoft.com/office/powerpoint/2010/main" val="1234567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/ Contribution</a:t>
            </a:r>
          </a:p>
        </p:txBody>
      </p:sp>
      <p:sp>
        <p:nvSpPr>
          <p:cNvPr id="101" name="Novelty Card 1"/>
          <p:cNvSpPr txBox="1"/>
          <p:nvPr/>
        </p:nvSpPr>
        <p:spPr>
          <a:xfrm>
            <a:off x="800100" y="135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	Multi-Module AI Fusion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weapon detection, tracking, Re-ID, and pose estimation into one real-time pipeline — systems-level innovation, not just a single algorithm.</a:t>
            </a:r>
          </a:p>
        </p:txBody>
      </p:sp>
      <p:sp>
        <p:nvSpPr>
          <p:cNvPr id="102" name="Novelty Card 2"/>
          <p:cNvSpPr txBox="1"/>
          <p:nvPr/>
        </p:nvSpPr>
        <p:spPr>
          <a:xfrm>
            <a:off x="800100" y="270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	Threat Analysis, Not Just Detection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“is there a weapon?” to assess who is carrying it, their behaviour, and an overall threat level.</a:t>
            </a:r>
          </a:p>
        </p:txBody>
      </p:sp>
      <p:sp>
        <p:nvSpPr>
          <p:cNvPr id="103" name="Novelty Card 3"/>
          <p:cNvSpPr txBox="1"/>
          <p:nvPr/>
        </p:nvSpPr>
        <p:spPr>
          <a:xfrm>
            <a:off x="800100" y="405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	Persistent Identity via Re-ID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Reconnects a tracked individual after temporary disappearance or re-entry using OSNet-based gallery matching.</a:t>
            </a:r>
          </a:p>
        </p:txBody>
      </p:sp>
      <p:sp>
        <p:nvSpPr>
          <p:cNvPr id="104" name="Novelty Card 4"/>
          <p:cNvSpPr txBox="1"/>
          <p:nvPr/>
        </p:nvSpPr>
        <p:spPr>
          <a:xfrm>
            <a:off x="800100" y="540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	Score Fusion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embedding similarity with body aspect ratio to reduce false matches when people wear similar clothing.</a:t>
            </a:r>
          </a:p>
        </p:txBody>
      </p:sp>
      <p:sp>
        <p:nvSpPr>
          <p:cNvPr id="105" name="Novelty Card 5"/>
          <p:cNvSpPr txBox="1"/>
          <p:nvPr/>
        </p:nvSpPr>
        <p:spPr>
          <a:xfrm>
            <a:off x="6246000" y="135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	Modular Architecture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 and tracker modules (e.g., YOLO, ByteTrack) can be upgraded or swapped without redesigning the system.</a:t>
            </a:r>
          </a:p>
        </p:txBody>
      </p:sp>
      <p:sp>
        <p:nvSpPr>
          <p:cNvPr id="106" name="Novelty Card 6"/>
          <p:cNvSpPr txBox="1"/>
          <p:nvPr/>
        </p:nvSpPr>
        <p:spPr>
          <a:xfrm>
            <a:off x="6246000" y="270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	Practical Real-Time Design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for real-time operation on standard-GPU, CCTV-ready hardware, rather than offline high-end-GPU benchmarks.</a:t>
            </a:r>
          </a:p>
        </p:txBody>
      </p:sp>
      <p:sp>
        <p:nvSpPr>
          <p:cNvPr id="107" name="Novelty Card 7"/>
          <p:cNvSpPr txBox="1"/>
          <p:nvPr/>
        </p:nvSpPr>
        <p:spPr>
          <a:xfrm>
            <a:off x="6246000" y="405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	Intelligent Alert Generation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Fuses weapon, pose, identity, and tracking history into a threat level before generating an alert — a decision-support system.</a:t>
            </a:r>
          </a:p>
        </p:txBody>
      </p:sp>
      <p:sp>
        <p:nvSpPr>
          <p:cNvPr id="108" name="Novelty Card 8"/>
          <p:cNvSpPr txBox="1"/>
          <p:nvPr/>
        </p:nvSpPr>
        <p:spPr>
          <a:xfrm>
            <a:off x="6246000" y="540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	Designed for Future Expansion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already supports multi-camera input, cross-camera Re-ID, edge deployment, and audio event detection.</a:t>
            </a:r>
          </a:p>
        </p:txBody>
      </p:sp>
    </p:spTree>
    <p:extLst>
      <p:ext uri="{BB962C8B-B14F-4D97-AF65-F5344CB8AC3E}">
        <p14:creationId xmlns:p14="http://schemas.microsoft.com/office/powerpoint/2010/main" val="131274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Column 1"/>
          <p:cNvSpPr txBox="1"/>
          <p:nvPr/>
        </p:nvSpPr>
        <p:spPr>
          <a:xfrm>
            <a:off x="800100" y="1371600"/>
            <a:ext cx="5095900" cy="5257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Video Acquisition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real-time frames from a CCTV camera or webcam and forwards each frame to the AI inference pipeline.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Person &amp; Weapon Detection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YOLOv8 models detect persons and weapons (guns, knives) in each frame, generating bounding boxes, class labels, and confidence scores.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Multi-Object Tracking &amp; Re-Identification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DeepSORT (Kalman Filter + Hungarian Algorithm, MobileNetv2) maintains identity across frames; OSNet re-identifies individuals who leave and re-enter the scene.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Pose Estimation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MediaPipe Pose extracts wrist, elbow, shoulder, and hip landmarks to support behavioural analysis and weapon-person association.</a:t>
            </a:r>
          </a:p>
        </p:txBody>
      </p:sp>
      <p:sp>
        <p:nvSpPr>
          <p:cNvPr id="6" name="Column 2"/>
          <p:cNvSpPr txBox="1"/>
          <p:nvPr/>
        </p:nvSpPr>
        <p:spPr>
          <a:xfrm>
            <a:off x="6296000" y="1371600"/>
            <a:ext cx="5095900" cy="5257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Weapon-Person Association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three-stage geometric approach - wrist proximity, containment fraction, and IoU-based matching - assigns each weapon to the correct individual.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Threat Assessment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rule-based Threat State Machine classifies each individual as SAFE, CAUTION, HIGH or CRITICAL with hysteresis to prevent unstable fluctuations.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Alert Generation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overlays, audio alarms, event logging, screenshots, and incident recording are triggered based on the assessed threat level.</a:t>
            </a:r>
          </a:p>
        </p:txBody>
      </p:sp>
    </p:spTree>
    <p:extLst>
      <p:ext uri="{BB962C8B-B14F-4D97-AF65-F5344CB8AC3E}">
        <p14:creationId xmlns:p14="http://schemas.microsoft.com/office/powerpoint/2010/main" val="163905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57C89-3DB0-0C45-F074-EFD848E909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40" r="-1188" b="7338"/>
          <a:stretch>
            <a:fillRect/>
          </a:stretch>
        </p:blipFill>
        <p:spPr>
          <a:xfrm>
            <a:off x="304800" y="481781"/>
            <a:ext cx="11720052" cy="565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79363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Datasets</a:t>
            </a:r>
          </a:p>
        </p:txBody>
      </p:sp>
      <p:sp>
        <p:nvSpPr>
          <p:cNvPr id="3" name="Dataset Card 1"/>
          <p:cNvSpPr txBox="1"/>
          <p:nvPr/>
        </p:nvSpPr>
        <p:spPr>
          <a:xfrm>
            <a:off x="800100" y="1300000"/>
            <a:ext cx="10591800" cy="9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rIns="137160" tIns="91440" bIns="91440" anchor="t">
            <a:no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/>
              </a:rPr>
              <a:t>01	COCO val2017 — Detector Selection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2,693 images, 10,777 annotated person instances. The standard human-verified detection benchmark, used to rank YOLOv8s / YOLO11s / YOLO26s on the person class.</a:t>
            </a:r>
          </a:p>
        </p:txBody>
      </p:sp>
      <p:sp>
        <p:nvSpPr>
          <p:cNvPr id="4" name="Dataset Card 2"/>
          <p:cNvSpPr txBox="1"/>
          <p:nvPr/>
        </p:nvSpPr>
        <p:spPr>
          <a:xfrm>
            <a:off x="800100" y="238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rIns="137160" tIns="91440" bIns="91440" anchor="t">
            <a:no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/>
              </a:rPr>
              <a:t>02	Market-1501 — Embedder Selection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1,501 identities, 32,668 crops, 6 campus cameras. First source with true identity labels; its cross-camera protocol mirrors “walked out and came back.”</a:t>
            </a:r>
          </a:p>
        </p:txBody>
      </p:sp>
      <p:sp>
        <p:nvSpPr>
          <p:cNvPr id="5" name="Dataset Card 3"/>
          <p:cNvSpPr txBox="1"/>
          <p:nvPr/>
        </p:nvSpPr>
        <p:spPr>
          <a:xfrm>
            <a:off x="6246000" y="238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rIns="137160" tIns="91440" bIns="91440" anchor="t">
            <a:no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/>
              </a:rPr>
              <a:t>03	MSMT17 — Cross-Domain Validation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4,101 identities, 126,441 crops, 15 cameras, indoor/outdoor, day/night. Tests transfer to a domain neither weight set has seen — governs the deployed weights.</a:t>
            </a:r>
          </a:p>
        </p:txBody>
      </p:sp>
      <p:sp>
        <p:nvSpPr>
          <p:cNvPr id="6" name="Dataset Card 4"/>
          <p:cNvSpPr txBox="1"/>
          <p:nvPr/>
        </p:nvSpPr>
        <p:spPr>
          <a:xfrm>
            <a:off x="800100" y="411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rIns="137160" tIns="91440" bIns="91440" anchor="t">
            <a:no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/>
              </a:rPr>
              <a:t>04	MOT17 — Tracking &amp; Occlusion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Full-frame surveillance video with per-frame identity ground truth. The only source that tests the tracker itself — motion, occlusion, entries and exits.</a:t>
            </a:r>
          </a:p>
        </p:txBody>
      </p:sp>
      <p:sp>
        <p:nvSpPr>
          <p:cNvPr id="7" name="Dataset Card 5"/>
          <p:cNvSpPr txBox="1"/>
          <p:nvPr/>
        </p:nvSpPr>
        <p:spPr>
          <a:xfrm>
            <a:off x="6246000" y="411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rIns="137160" tIns="91440" bIns="91440" anchor="t">
            <a:no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/>
              </a:rPr>
              <a:t>05	Own Recorded Clips — Deployment Evidence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Filmed on the actual deployment camera with tools/capture.py. Public benchmarks prove the software; only this footage proves the deployment 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Model Selection — Detector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400000"/>
          <a:ext cx="10500000" cy="20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0000"/>
                <a:gridCol w="1975000"/>
                <a:gridCol w="1975000"/>
                <a:gridCol w="1975000"/>
                <a:gridCol w="1975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mAP50-95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Params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Speed @640 (ms)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YOLOv8s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0.5701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0.6964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11.17 M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7.40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YOLO11s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0.5821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0.7127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9.46 M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9.18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YOLO26s  (selected)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0.5963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0.7130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10.01 M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9.68</a:t>
                      </a:r>
                    </a:p>
                  </a:txBody>
                  <a:tcPr marL="27534" marR="27534" marT="25031" marB="25031" anchor="ctr">
                    <a:noFill/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838200" y="3650000"/>
            <a:ext cx="10500000" cy="18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400" i="1">
                <a:solidFill>
                  <a:srgbClr val="000000"/>
                </a:solidFill>
                <a:latin typeface="Times New Roman"/>
              </a:rPr>
              <a:t>Selected: YOLO26s — best accuracy and recall on every metric, with fewer parameters than YOLOv8s. Run at imgsz=640 to match the native 640×480 camera; higher resolutions cost 30–64% more time for no larger person crops.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Model Selection — Re-ID Embedder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00000" y="1300000"/>
          <a:ext cx="10791800" cy="287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0000"/>
                <a:gridCol w="1200000"/>
                <a:gridCol w="1900000"/>
                <a:gridCol w="1900000"/>
                <a:gridCol w="1791800"/>
              </a:tblGrid>
              <a:tr h="410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Embedder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Dim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Rank-1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mAP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ms / img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1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OSNet x1_0 (MSMT17 — deployed)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57.2%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30.4%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0.75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10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OSNet x1_0 (Market-1501)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94.3%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83.6%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1.56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10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OSNet x1_0 (ImageNet)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14.5%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4.5%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0.64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10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MobileNetV3-Small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576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11.5%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3.5%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0.47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10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MobileNetV3-Large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960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9.8%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2.6%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0.68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10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MobileNetV2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1280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6.8%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2.2%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0.88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700000" y="4450000"/>
            <a:ext cx="10791800" cy="1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300" i="1">
                <a:solidFill>
                  <a:srgbClr val="000000"/>
                </a:solidFill>
                <a:latin typeface="Times New Roman"/>
              </a:rPr>
              <a:t>Selected: OSNet, MSMT17 weights. MobileNetV2/V3 are ImageNet classifiers repurposed for tracking, not re-ID models — OSNet is ~12× more accurate at telling two people apart (30.4% vs 2.2% mAP) at comparable speed and a smaller embedding. The base project used MobileNetV2 inside its tracker — effectively matching identity with a model that scores 2.2% mAP at distinguishing people.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Tracking Algorithm — DeepSORT</a:t>
            </a:r>
          </a:p>
        </p:txBody>
      </p:sp>
      <p:sp>
        <p:nvSpPr>
          <p:cNvPr id="3" name="Column"/>
          <p:cNvSpPr txBox="1"/>
          <p:nvPr/>
        </p:nvSpPr>
        <p:spPr>
          <a:xfrm>
            <a:off x="700000" y="1300000"/>
            <a:ext cx="5300000" cy="4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1. Kalman Filter Predict — 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constant-velocity 8-D state (position, aspect ratio, height + velocities); predicts every track's position this frame.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2. Mahalanobis Gating — 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a χ² threshold (9.4877, 4 DOF) rejects detection-track pairs that are physically impossible, before matching is attempted.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3. Cosine Appearance Metric — 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the injected 512-d OSNet embedding is compared at a calibrated max-distance of 0.3735.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4. Hungarian Assignment — 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scipy's linear_sum_assignment solves the full cost matrix optimally, not greedily, so two tracks can never both claim one detection.</a:t>
            </a:r>
          </a:p>
        </p:txBody>
      </p:sp>
      <p:sp>
        <p:nvSpPr>
          <p:cNvPr id="4" name="Column"/>
          <p:cNvSpPr txBox="1"/>
          <p:nvPr/>
        </p:nvSpPr>
        <p:spPr>
          <a:xfrm>
            <a:off x="6246000" y="1300000"/>
            <a:ext cx="5300000" cy="4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5. Matching Cascade — 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recently-seen tracks get first claim on a detection, so a fresh track doesn't lose out to one that has been stale for several frames.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6. IoU Fallback — 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for unconfirmed or just-lost tracks, a looser IoU-based match (≤ 0.7) catches cases appearance alone misses.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7. Track State Machine — 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Tentative → Confirmed (after 3 consecutive matched frames) → Deleted (after 5 consecutive missed frames).</a:t>
            </a:r>
          </a:p>
        </p:txBody>
      </p:sp>
      <p:sp>
        <p:nvSpPr>
          <p:cNvPr id="5" name="Note"/>
          <p:cNvSpPr txBox="1"/>
          <p:nvPr/>
        </p:nvSpPr>
        <p:spPr>
          <a:xfrm>
            <a:off x="700000" y="6050000"/>
            <a:ext cx="10791800" cy="7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200" i="1">
                <a:solidFill>
                  <a:srgbClr val="000000"/>
                </a:solidFill>
                <a:latin typeface="Times New Roman"/>
              </a:rPr>
              <a:t>One embedding, two jobs: the same OSNet feature drives both this frame-to-frame match (DeepSORT) and the long-term identity gallery (next slide) — sharing one representation instead of two is what fixed the base project's identity-swap bug.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Re-ID Gallery — Identity &amp; Storage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00000" y="1200000"/>
          <a:ext cx="10791800" cy="52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0000"/>
                <a:gridCol w="7391800"/>
              </a:tblGrid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Property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Representation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512-d OSNet embedding, L2-normalised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Samples stored per identity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16, diversity-selected (replaces the most redundant sample, not FIFO)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Storage size per identity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~41.4 KB (measured)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Storage location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RAM only — no disk, no database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Active-identity lifetime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Never expires while currently tracked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Dormant-identity lifetime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Expires 600 s (10 min) after last seen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Gallery capacity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100 identities; LRU-evicts oldest dormant entries beyond that (~4.0 MB at capacity)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Admission gate (what gets stored)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Crop height ≥ 64 px, confidence ≥ 0.5, not side-clipped, ≥ 5 pose keypoints (soft)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Match decision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MATCHED ≥ 0.7327 (margin ≥ 0.0957) · NEW &lt; 0.5617 · else PROVISIONAL (deferred ≤ 30 frames)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Re-ID Gallery — Capacity &amp; Frame Cost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000" y="1400000"/>
          <a:ext cx="10191800" cy="2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0000"/>
                <a:gridCol w="2100000"/>
                <a:gridCol w="2400000"/>
                <a:gridCol w="2400000"/>
                <a:gridCol w="1191800"/>
              </a:tblGrid>
              <a:tr h="40000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</a:rPr>
                        <a:t>People in frame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</a:rPr>
                        <a:t>Embed cost (ms)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</a:rPr>
                        <a:t>Total / frame (ms)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</a:rPr>
                        <a:t>Budget used (33 ms)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Times New Roman"/>
                        </a:rPr>
                        <a:t>Ceiling FPS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3.24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12.74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38%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79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3.81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13.31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40%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75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16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7.78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17.28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52%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24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11.36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20.86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63%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32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15.10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24.60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74%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1000000" y="4150000"/>
            <a:ext cx="10191800" cy="20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300" i="1">
                <a:solidFill>
                  <a:srgbClr val="000000"/>
                </a:solidFill>
                <a:latin typeface="Times New Roman"/>
              </a:rPr>
              <a:t>Cost is a step function, not linear — the CUDA graph batches 8 embeddings at a time, so 1–8 people cost almost the same, and each additional block of 8 adds ~3.8 ms. The system stays above the 30 FPS real-time target with up to at least 32 simultaneous people. In practice the limit in crowded scenes is detector recall, not identity — on MOT17, tracking accuracy (IDF1) tracks detection recall almost exactly, so the detector loses people before identity ever becomes the bottleneck.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Validation Scenarios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00000" y="1150000"/>
          <a:ext cx="10791800" cy="45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0000"/>
                <a:gridCol w="3200000"/>
                <a:gridCol w="700000"/>
                <a:gridCol w="4791800"/>
                <a:gridCol w="1600000"/>
              </a:tblGrid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People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Purpose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Short re-entry (5 s gaps)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Core re-entry accuracy test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Recorded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Medium re-entry (30 s gaps)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Validates the 600 s dormant-identity TTL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Pending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Re-entry with appearance change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Jacket / bag — hardest solo case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Pending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Occlusion without leaving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Pillar / doorway passes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Pending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Distance sweep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Sets the minimum crop-height for admission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Pending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Empty scene / ghost check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True-negative pass criterion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Recorded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Same re-entry, no backlight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Lighting A/B (backlit vs. even)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Recorded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Camera high, angled down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Real CCTV viewpoint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Pending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Sitting, crouching, turning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Pose variation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Pending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Two people crossing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ID swaps, false merges, threshold calibration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Recorded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383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Similar clothing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Hardest case — appearance collapse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Pending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700000" y="5950000"/>
            <a:ext cx="10791800" cy="7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200" i="1">
                <a:solidFill>
                  <a:srgbClr val="000000"/>
                </a:solidFill>
                <a:latin typeface="Times New Roman"/>
              </a:rPr>
              <a:t>Recorded scenarios produced every number on the next slide: #1 &amp; #7 → re-entry accuracy and lighting sensitivity; #6 → the true-negative / ghost-box test; #10 → the multi-person crossing test. Remaining scenarios are planned alongside the Aug–Sep 2026 milestone.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Results — Key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00000" y="1200000"/>
          <a:ext cx="9791800" cy="53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/>
                <a:gridCol w="6191800"/>
              </a:tblGrid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Real-time speed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35.8 FPS end-to-end (23.9 FPS with pose) — RTX 5070 Laptop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Re-ID implementation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Reproduces published Market-1501 / MSMT17 benchmarks within 1%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Tracking (MOT17-09)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IDF1 84.1%, MOTA 67.7%, 0 ID switches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Re-ID on deployment camera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100% (8/8 re-entries), 0 false merges, 0 false splits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Multi-person crossing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3 identities for 2 people (1 false split), 0 duplicate-id frames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Ghost-box false positives (empty room)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0.44% (901-frame true-negative test), 0 identities created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Capacity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Sustains ≥30 FPS with up to 32 people in frame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Threshold calibration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Separability 0.2135; 77.1% re-entry recall @ 1% false-merge budget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  <a:tr h="530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Unit tests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Times New Roman"/>
                        </a:rPr>
                        <a:t>22/22 passing</a:t>
                      </a:r>
                    </a:p>
                  </a:txBody>
                  <a:tcPr marL="27534" marR="27534" marT="18000" marB="180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D32F-B8E3-CCD7-CEE0-95EC0350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6143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949754-8604-6D5F-F634-8C1BC286D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776498"/>
              </p:ext>
            </p:extLst>
          </p:nvPr>
        </p:nvGraphicFramePr>
        <p:xfrm>
          <a:off x="838200" y="969963"/>
          <a:ext cx="10716769" cy="51532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94501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867014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25309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452610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242100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407446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1929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Publication &amp; Year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Methodology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588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 Multi-Attention Approach for Person Re-Identification Using Deep Learning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Sensors (MDPI),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Proposes a multi-attention person Re-ID framework combining a Position Attention Module (PAM) and Efficient Channel Attention (ECA) within a multi-part feature network to jointly learn spatial, channel, and contextual features. Evaluated on Market-1501, DukeMTMC-reID, and CUHK03, reaching up to 95.93% Rank-1 (96.41% after re-ranking).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Targets person Re-ID only, not full surveillance (no detection, tracking, or threat analysis). Depends on accurate person detection and large annotated datasets, and adds computational overhead that can limit edge deployment; performance still degrades under severe occlusion or poor illumination.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Shows that combining spatial (PAM) and channel (ECA) attention significantly improves discriminative Re-ID features and robustness to appearance variation, reinforcing attention mechanisms as valuable for multi-camera person tracking in intelligent surveillance.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56879843"/>
                  </a:ext>
                </a:extLst>
              </a:tr>
              <a:tr h="522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AI-Based Weapon Detection for Security Surveillance: Recent Research Advances (2016–2025)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Electronics (MDPI), 2025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PRISMA-based systematic review of 101 papers (2016–2025) comparing ML, CNN, Faster R-CNN, SSD, YOLO (v1–v12), Transformer, and hybrid models for weapon detection across image, video, infrared, X-ray, and multimodal inputs, benchmarked on Precision, Recall, F1-score, and mAP for real-time surveillance and smart-city deployment.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As a review, it proposes no new model and its conclusions inherit inconsistencies from the surveyed studies (differing datasets/metrics). Identifies unresolved challenges: dataset variability, lack of standardized benchmarks, occlusion, poor illumination, small-object detection, privacy, and compute cost.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Concludes YOLOv5–YOLOv8 offer the best speed/accuracy trade-off for real-time detection while Faster/Mask R-CNN favor localization accuracy; calls for standardized datasets, lightweight edge models, and real-world validation.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54306771"/>
                  </a:ext>
                </a:extLst>
              </a:tr>
              <a:tr h="4553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3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BlazePose GHUM Holistic: Real-time 3D Human Landmarks and Pose Estimation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arXiv, 2022 (Google Research)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Lightweight real-time 3D human pose framework combining BlazePose body-landmark detection, a hand re-crop/landmark module, and a GHUM statistical body model; predicts 33 body + 21×2 hand landmarks via a detector-tracker pipeline, with an MLP-Mixer-based GHUM Lifter converting landmarks to pose/shape. Runs at ~15 FPS on mobile.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Focused solely on pose estimation — no detection, tracking, or activity recognition. Accuracy depends on clear body visibility and degrades under heavy occlusion, extreme viewpoints, or overlapping people; facial expression modeling remains limited.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accurate on-device 3D pose estimation from a single RGB camera is practical in real time, establishing a strong basis for pose-driven behaviour-analysis modules within intelligent surveillance systems such as ours.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657886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709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54C1C-FC15-AE6B-A5D2-51EB47259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56D88E-6D71-DF94-3476-CCFDF94BF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412558"/>
              </p:ext>
            </p:extLst>
          </p:nvPr>
        </p:nvGraphicFramePr>
        <p:xfrm>
          <a:off x="448734" y="306113"/>
          <a:ext cx="11294532" cy="525932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1160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67668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320655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84835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362977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537237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3653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Publication &amp; Year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Methodology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13462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4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Body Part-Based Representation Learning for Occluded Person Re-Identification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arXiv, 2022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Proposes BPBreID for occluded person Re-ID using body-part attention, GiLt training, visibility-aware part matching, and holistic plus local feature learning. Evaluated on Market-1501, DukeMTMC-ReID, Occluded-Duke, Occluded-ReID, and P-DukeMTMC, achieving state-of-the-art performance under heavy occlusion.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Focuses only on person Re-ID and requires accurate human parsing. Does not include detection, tracking, behaviour analysis, or threat assessment. Performance decreases with severe occlusion or poor body-part localization.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body-part attention and visibility-aware matching significantly improve Re-ID under occlusion. Highlights the importance of local body features for robust surveillance applications.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100749099"/>
                  </a:ext>
                </a:extLst>
              </a:tr>
              <a:tr h="11827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ByteTrack: Multi-Object Tracking by Associating Every Detection Box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arXiv, 2022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Introduces the BYTE association algorithm that retains both high- and low-confidence detections for tracking. Uses Kalman Filter prediction, IoU/Re-ID matching, Hungarian Algorithm, and two-stage association to recover occluded targets. Evaluated on MOT17, MOT20, HiEve, and BDD100K with state-of-the-art real-time performance.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Focuses only on multi-object tracking and depends on an external detector. Does not perform Re-ID across cameras, weapon detection, pose estimation, behaviour analysis, or threat assessment.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Shows that associating low-confidence detections greatly improves tracking continuity and reduces identity fragmentation while maintaining real-time performance.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185554979"/>
                  </a:ext>
                </a:extLst>
              </a:tr>
              <a:tr h="2000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Development and Optimization of Deep Learning Models for Weapon Detection in Surveillance Videos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Applied Sciences (MDPI), 2022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Develops a real-time weapon detector using Scaled-YOLOv4, custom weapon datasets, extensive preprocessing, hyperparameter optimization, and TensorRT acceleration for Jetson Nano deployment. Achieves 92.1% mAP and high inference speed.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Limited to weapon detection and lacks tracking, person Re-ID, behaviour analysis, and threat assessment. Cannot identify the person carrying the weapon or preserve identity across frames.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Scaled-YOLOv4 with TensorRT enables accurate and efficient edge-based weapon detection suitable for real-time surveillance.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2144222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9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D71E-8C4F-FD05-C1B1-FEA204C7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745075-8E66-81E7-3F06-6675E746C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53893"/>
              </p:ext>
            </p:extLst>
          </p:nvPr>
        </p:nvGraphicFramePr>
        <p:xfrm>
          <a:off x="292511" y="432535"/>
          <a:ext cx="11250168" cy="59929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9113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59940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31546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74682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353695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527270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Publication &amp; Year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Methodology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7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Distributed Intelligent Video Surveillance for Early Armed Robbery Detection based on Deep Learning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IEEE, 2024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Presents a distributed edge-cloud surveillance system using YOLOv5s for weapon detection, TensorRT optimization, Momentum confidence accumulation, and 3DCNN for robbery verification. Integrates IoT, PostgreSQL, Android, and WhatsApp alerts.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Does not perform tracking, person Re-ID, or identity persistence. Knife detection remains challenging, and cloud communication introduces latency.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combining edge intelligence with cloud verification improves robbery detection while reducing false positives in surveillance systems.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080772828"/>
                  </a:ext>
                </a:extLst>
              </a:tr>
              <a:tr h="200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Human Pose Estimation Using MediaPipe Pose and Optimization Method Based on a Humanoid Model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Applied Sciences (MDPI),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Combines MediaPipe Pose with a humanoid kinematic model and uDEAS optimization to estimate accurate 3D human poses. Uses joint constraints and center-of-mass optimization for realistic posture reconstruction on low-cost hardware.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Supports only single-person pose estimation and depends on accurate landmark detection. Does not include detection, tracking, Re-ID, or surveillance intelligence.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Demonstrates that optimization-based pose estimation can achieve accurate real-time 3D pose reconstruction without GPU acceleration.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120363432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9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Tran-GCN: A Transformer-Enhanced Graph Convolutional Network for Person Re-Identification in Monitoring Videos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IET Computer Vision, 2025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Combines OpenPose, ResNet-50, Transformer, and Graph Convolution Networks for robust person Re-ID. Uses pose features, local appearance, and global context with Triplet and Contrastive losses. Evaluated on Market-1501, DukeMTMC-ReID, and MSMT17.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Computationally expensive and requires large labelled datasets. Focuses only on Re-ID without detection, tracking, weapon detection, or threat analysis.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combining pose, CNNs, Transformers, and GCNs significantly improves Re-ID robustness against pose variation and occlusion.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2789859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379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745075-8E66-81E7-3F06-6675E746C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53893"/>
              </p:ext>
            </p:extLst>
          </p:nvPr>
        </p:nvGraphicFramePr>
        <p:xfrm>
          <a:off x="292511" y="432535"/>
          <a:ext cx="11250168" cy="59929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9113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59940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31546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74682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353695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527270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Publication &amp; Year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Methodology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Improving Handgun Detection Through a Combination of Visual Features and Body Pose-Based Data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Pattern Recognition (Elsevier),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Combines OpenPose body keypoints with CNN and Vision Transformer-based visual features for handgun detection. Uses feature fusion and false-positive filtering to improve recognition under challenging CCTV conditions.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Depends heavily on accurate pose estimation and processes only individual images. Does not support tracking, Re-ID, behaviour analysis, or intelligent surveillance.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Shows that integrating body pose with visual appearance significantly improves handgun detection accuracy in surveillance imagery.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080772828"/>
                  </a:ext>
                </a:extLst>
              </a:tr>
              <a:tr h="200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Multi-scale and Attention Enhanced Graph Convolution Network for Skeleton-Based Violence Action Recognition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Frontiers in Neurorobotics, 2022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Proposes MSA-STGCN using multi-scale graph convolutions, SE attention, hybrid dilated convolutions, and four-stream skeleton representations for violence recognition. Evaluated on NTU RGB+D and Kinetics Skeleton datasets.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Depends on accurate skeleton extraction and recognizes only predefined violence actions. Does not include detection, tracking, Re-ID, or weapon recognition.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Demonstrates that attention-enhanced graph convolution effectively models spatial-temporal skeleton information for violence recognition.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120363432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Real-Time Weapon Detection Using YOLOv8 for Enhanced Safety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arXiv, 2024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Implements a YOLOv8-based weapon detection framework using GAN-augmented datasets, data augmentation, FPN, and NMS for real-time surveillance. Achieves strong Precision, Recall, F1-score, and mAP performance.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Performs only weapon detection and lacks tracking, Re-ID, behaviour analysis, threat scoring, and identity management.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Confirms YOLOv8 as an effective real-time detector but highlights the need for additional surveillance intelligence modules.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2789859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745075-8E66-81E7-3F06-6675E746C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53893"/>
              </p:ext>
            </p:extLst>
          </p:nvPr>
        </p:nvGraphicFramePr>
        <p:xfrm>
          <a:off x="292511" y="432535"/>
          <a:ext cx="11250168" cy="59929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9113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59940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31546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74682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353695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527270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Publication &amp; Year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Methodology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StrongSORT: Make DeepSORT Great Again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arXiv,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Enhances DeepSORT using YOLOX-X, BoT Re-ID embeddings, EMA, ECC camera compensation, NSA Kalman Filter, AFLink, and GSI trajectory interpolation to improve multi-object tracking accuracy.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Focuses solely on tracking and assumes object detection is already available. Does not perform weapon detection, pose estimation, Re-ID across surveillance sessions, or threat analysis.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enhanced association strategies significantly reduce identity switches and improve tracking robustness while maintaining real-time performance.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080772828"/>
                  </a:ext>
                </a:extLst>
              </a:tr>
              <a:tr h="200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Tiny Asymmetric Feature Normalized Network for Person Re-Identification System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IEEE Access, 2022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Proposes TAFN-Net using BIG normalization, IBLR SE blocks, non-local attention, random erasing, and Triplet plus Cross-Entropy losses to generate lightweight yet robust Re-ID embeddings. Evaluated on Market-1501, DukeMTMC-ReID, and GPP-ReID.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Limited to person Re-ID and does not include detection, tracking, behaviour analysis, or intelligent surveillance capabilities.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Demonstrates that advanced normalization strategies enable lightweight models to achieve competitive Re-ID accuracy with low computational cost.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120363432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Weapon Detection with FMR-CNN and YOLOv8 for Enhanced Crime Prevention and Security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Scientific Reports (Nature Portfolio), 2025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Introduces the FMR-CNN surveillance framework combining Faster R-CNN, Mask R-CNN, YOLOv8, MobileNetV3, and MobileNetV2 for weapon detection, segmentation, behaviour assessment, and automated API-based alert generation. Achieves 98.7% accuracy and 90.1% mAP.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Does not perform person Re-ID, identity persistence, pose estimation, or weapon ownership identification. Computational complexity is high due to multiple deep models.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hybrid detection and segmentation significantly improve surveillance accuracy, but additional identity management is required for intelligent surveillance.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2789859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949754-8604-6D5F-F634-8C1BC286D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01277"/>
              </p:ext>
            </p:extLst>
          </p:nvPr>
        </p:nvGraphicFramePr>
        <p:xfrm>
          <a:off x="558723" y="993058"/>
          <a:ext cx="10936902" cy="54930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04659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05364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27883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02989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288155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456897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10126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Publication &amp; Year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Methodology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22401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Weapon Operating Pose Detection and Suspicious Human Activity Classification Using Skeleton Graphs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Mathematical Biosciences and Engineering,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Uses VGG-19 skeleton extraction, DeepSORT tracking, LSTM-RNN temporal modelling, ADAM optimization, and Kalman filtering to classify eight suspicious human activities from skeleton graphs. Generates real-time alarms for activities such as shooting, crawling, throwing, and weapon operation.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Does not explicitly detect weapons and relies on body posture. Lacks person Re-ID, multi-camera identity management, weapon ownership identification, threat scoring, evidence logging, and long-term identity preservation.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combining skeleton graphs with DeepSORT and LSTM effectively recognizes suspicious activities, but remains primarily an activity recognition framework rather than a complete intelligent surveillance system.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56879843"/>
                  </a:ext>
                </a:extLst>
              </a:tr>
              <a:tr h="22401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17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Weapon Detection in Surveillance Videos Using YOLOv8 and PELSF-DCNN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E3S Web of Conferences (ICMED-ICMPC),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Proposes a hybrid framework combining YOLOv8, Wiener Filtering, PDFMSR preprocessing, Diamond Search motion estimation, handcrafted feature extraction, CSBO optimization, and the PELSF-DCNN classifier for weapon detection. Achieves 97.5% accuracy and 95.42% mAP.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Limited to weapon detection and lacks tracking, person Re-ID, pose estimation, behaviour analysis, threat assessment, and multi-camera surveillance support. The pipeline is computationally complex due to multiple preprocessing and optimization stages.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combining advanced preprocessing, handcrafted features, optimization algorithms, and YOLOv8 significantly improves weapon detection accuracy, but additional modules are required for complete intelligent surveillance.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788275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709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" y="48429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&amp; How We Close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13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Weapon detected, but ownership isn't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Detection-only or hand-patch-classification systems [6,10,12,15,17] never bind a weapon to a specific tracked person. Our counter: a 3-stage association cascade — wrist proximity (≤60px) → containment (≥0.30) → IoU fallback (≥0.20).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6000" y="13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 Identity resets after occlusion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ByteTrack, StrongSORT and skeleton-based systems [5,13,15,16] lose identity — and threat history — the moment someone leaves the frame. Our counter: an OSNet Re-ID gallery (512-d, cosine ≥0.65, fused with body-ratio, 300s memory) restores it on reappearance.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0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 Siloed, single-task pipelines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Detection-only, tracking-only or Re-ID-only work [1,3,4,5,6,8,9,11,12,13,14,17] never combines with the others — including a 2024 distributed edge+cloud design (7) that still cannot identify individuals and runs at only 4.43 FPS. Our counter: one real-time loop — detection → tracking → Re-ID → pose → association → threat FSM → alert.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6000" y="30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 Threat output is binary, not graded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FMR-CNN and skeleton-action systems [15,16] output a single coarse trigger or a “normal vs suspicious” label — no per-person severity. Our counter: a 4-level threat FSM (SAFE → CAUTION → HIGH → CRITICAL) with a 45-frame hysteresis lock, so alerts escalate instantly but never flicker.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7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 Heavy pipelines don't hold real time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Multi-branch or multi-stage stacks [9,15,17] pay in heavy GPU cost or ≈ 9 FPS; the distributed edge design (7) manages only 4.43 FPS. Our counter: a single-stage YOLOv8s stack with interval scheduling (weapon /3, pose /4, Re-ID /15 frames) sustains ≈30 FPS GPU / ≈10 FPS CPU.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6000" y="47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  Bottom line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 papers reviewed — including a 101-paper systematic review (2) that independently confirms the field-wide gap — each solve one task in isolation. Ours is the only system that detects a weapon, identifies who holds it, remembers them across occlusion, and grades the threat, in one real-time loop.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" y="48429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— Reference Papers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150000"/>
          <a:ext cx="10716769" cy="545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Venue, Year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Multi-Attention Approach for Person Re-Identification Using Deep Learning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(MDPI),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Weapon Detection for Security Surveillance: Recent Research Advances (2016–2025)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Electronics (MDPI), 2025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BlazePose GHUM Holistic: Real-time 3D Human Landmarks and Pose Estimation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Part-Based Representation Learning for Occluded Person Re-Identification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ByteTrack: Multi-Object Tracking by Associating Every Detection Box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and Optimization of Deep Learning Models for Weapon Detection in Surveillance Videos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Sciences (MDPI),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Intelligent Video Surveillance for Early Armed Robbery Detection based on Deep Learning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2024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Pose Estimation Using MediaPipe Pose and Optimization Method Based on a Humanoid Model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Sciences (MDPI),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Tran-GCN: A Transformer-Enhanced Graph Convolutional Network for Person Re-Identification in Monitoring Videos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IET Computer Vision, 2025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Handgun Detection Through a Combination of Visual Features and Body Pose-Based Data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 Recognition (Elsevier),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Multi-scale and Attention Enhanced Graph Convolution Network for Skeleton-Based Violence Action Recognition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 in Neurorobotics,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Weapon Detection Using YOLOv8 for Enhanced Safety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2024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StrongSORT: Make DeepSORT Great Again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 Asymmetric Feature Normalized Network for Person Re-Identification System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Weapon Detection with FMR-CNN and YOLOv8 for Enhanced Crime Prevention and Security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 (Nature), 2025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Weapon Operating Pose Detection and Suspicious Human Activity Classification Using Skeleton Graphs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Math. Biosciences &amp; Engineering,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2791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Weapon Detection in Surveillance Videos Using YOLOv8 and PELSF-DCNN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E3S Web of Conferences,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ference List"/>
          <p:cNvSpPr txBox="1"/>
          <p:nvPr/>
        </p:nvSpPr>
        <p:spPr>
          <a:xfrm>
            <a:off x="800100" y="1371600"/>
            <a:ext cx="10591800" cy="5257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	M. T. Bhatti, M. G. Khan, M. Aslam, and M. J. Fiaz, “Weapon Detection in Real-Time CCTV Videos Using Deep Learning,” IEEE Access, vol. 9, pp. 34366–34382, 2021, doi: 10.1109/ACCESS.2021.3059170.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	P. Shanthi and V. Manjula, “Weapon Detection with FMR-CNN and YOLOv8 for Enhanced Crime Prevention and Security,” Scientific Reports, vol. 15, 2025, doi: 10.1038/s41598-025-07782-0.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	K. Zhou, Y. Yang, A. Cavallaro, and T. Xiang, “Omni-Scale Feature Learning for Person Re-Identification,” Proc. IEEE/CVF International Conference on Computer Vision (ICCV), Seoul, South Korea, 2019, pp. 3702–3712, doi: 10.1109/ICCV.2019.00380.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	D. Berardini et al., “A Deep-Learning Framework Running on Edge Devices for Handgun and Knife Detection from Indoor Video-Surveillance Cameras,” Multimedia Tools and Applications, vol. 83, no. 7, pp. 19109–19127, 2024, doi: 10.1007/s11042-023-16231-x.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	T. Murugan et al., “AI-Based Weapon Detection for Security Surveillance: Recent Research Advances (2016–2025),” Electronics, vol. 14, no. 23, Art. 4609, 2025, doi: 10.3390/electronics14234609.</a:t>
            </a:r>
          </a:p>
          <a:p>
            <a:pPr marL="342900" indent="-342900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	P. Chaware, V. Dhamdhere, M. Sawane, S. Patil, P. Sarode, and K.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Ukey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“Development of Intelligent Video Surveillance System Using Deep Learning and Convolutional Neural Networks: A Proactive Security Solution,” Engineering Proceedings, vol. 114, no. 1, Art. 11, 2025,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10.3390/engproc2025114011.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	A. Thakur, A. Shrivastav, R. Sharma, T. Kumar, and K. Puri, “Real-Time Weapon Detection Using YOLOv8 for Enhanced Safety,”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arXiv:2410.19862, 2024.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	N.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Wojke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Bewley, and D. Paulus, “Simple Online and Realtime Tracking with a Deep Association Metric,” Proc. IEEE International Conference on Image Processing (ICIP), Beijing, China, 2017, pp. 3645–3649,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10.1109/ICIP.2017.8296962.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	S. Yan, Y. Xiong, and D. Lin, “Spatial Temporal Graph Convolutional Networks for Skeleton-Based Action Recognition,” Proc. AAAI Conference on Artificial Intelligence, New Orleans, LA, USA, 2018, pp. 7444–7452.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	J. Redmon, S.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Divvala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Farhadi, “You Only Look Once: Unified, Real-Time Object Detection,” Proc. IEEE Conference on Computer Vision and Pattern Recognition (CVPR), Las Vegas, NV, USA, 2016, pp. 779–788.</a:t>
            </a:r>
          </a:p>
          <a:p>
            <a:pPr marL="342900" indent="-342900">
              <a:spcBef>
                <a:spcPts val="900"/>
              </a:spcBef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000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mrita Vishwa Vidyapeetha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94" y="792478"/>
            <a:ext cx="5715012" cy="1267971"/>
          </a:xfrm>
          <a:prstGeom prst="rect">
            <a:avLst/>
          </a:prstGeom>
        </p:spPr>
      </p:pic>
      <p:sp>
        <p:nvSpPr>
          <p:cNvPr id="5" name="Thank You"/>
          <p:cNvSpPr txBox="1"/>
          <p:nvPr/>
        </p:nvSpPr>
        <p:spPr>
          <a:xfrm>
            <a:off x="1828800" y="2971800"/>
            <a:ext cx="8534400" cy="1143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cxnSp>
        <p:nvCxnSpPr>
          <p:cNvPr id="6" name="Divider"/>
          <p:cNvCxnSpPr/>
          <p:nvPr/>
        </p:nvCxnSpPr>
        <p:spPr>
          <a:xfrm>
            <a:off x="4876800" y="4114800"/>
            <a:ext cx="2438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am Line"/>
          <p:cNvSpPr txBox="1"/>
          <p:nvPr/>
        </p:nvSpPr>
        <p:spPr>
          <a:xfrm>
            <a:off x="1828800" y="4343400"/>
            <a:ext cx="85344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S • Harish Venkat • Krithash V</a:t>
            </a:r>
          </a:p>
        </p:txBody>
      </p:sp>
    </p:spTree>
    <p:extLst>
      <p:ext uri="{BB962C8B-B14F-4D97-AF65-F5344CB8AC3E}">
        <p14:creationId xmlns:p14="http://schemas.microsoft.com/office/powerpoint/2010/main" val="1320321269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Evidence — Single-Person Re-Identification</a:t>
            </a:r>
          </a:p>
        </p:txBody>
      </p:sp>
      <p:pic>
        <p:nvPicPr>
          <p:cNvPr id="3" name="Picture 2" descr="02_reiden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2340423"/>
            <a:ext cx="10791800" cy="316915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Evidence — Multi-Person Entry / Exit</a:t>
            </a:r>
          </a:p>
        </p:txBody>
      </p:sp>
      <p:pic>
        <p:nvPicPr>
          <p:cNvPr id="3" name="Picture 2" descr="15_multiperson_entryex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166" y="1150000"/>
            <a:ext cx="9533467" cy="555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Evidence — Multi-Person Simultaneous Re-Identification</a:t>
            </a:r>
          </a:p>
        </p:txBody>
      </p:sp>
      <p:pic>
        <p:nvPicPr>
          <p:cNvPr id="3" name="Picture 2" descr="16_multiperson_reiden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2340423"/>
            <a:ext cx="10791800" cy="31691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2060305040502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02060305040502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4004</Words>
  <Application>Microsoft Office PowerPoint</Application>
  <PresentationFormat>Widescreen</PresentationFormat>
  <Paragraphs>290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Intelligent Threat Analysis and Surveillance System Using Multi-Module AI Fusion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Literature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Krithash</dc:creator>
  <cp:lastModifiedBy>Akash Sivakumar</cp:lastModifiedBy>
  <cp:revision>10</cp:revision>
  <dcterms:modified xsi:type="dcterms:W3CDTF">2026-08-11T07:59:58Z</dcterms:modified>
</cp:coreProperties>
</file>