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71" r:id="rId9"/>
    <p:sldId id="264" r:id="rId10"/>
    <p:sldId id="265" r:id="rId11"/>
    <p:sldId id="266" r:id="rId12"/>
    <p:sldId id="277" r:id="rId13"/>
    <p:sldId id="278" r:id="rId14"/>
    <p:sldId id="267" r:id="rId15"/>
    <p:sldId id="275" r:id="rId16"/>
    <p:sldId id="276" r:id="rId17"/>
    <p:sldId id="268" r:id="rId18"/>
    <p:sldId id="270" r:id="rId19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198A7-FD20-1798-5A0E-2F80BC08D8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37C1EF-8B42-46D6-756C-63F5510AA2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453586-AB36-07C3-B10B-E1BED90EF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4DD9-1994-4E24-8670-512DA3BD47A6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7AB40-2E92-E5D4-BF4C-E35E09195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39F14-BF31-9E06-9FEF-054A54BF8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8394A-1318-49C3-8DC6-B17086F93F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238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24836-3B75-348E-A1F6-CEEF7A0B1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0A834-7B1B-026B-4D19-2D15D0F2C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55579-A449-2037-279B-BD1002AE1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4DD9-1994-4E24-8670-512DA3BD47A6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6E98B-90D0-D6A2-7C76-D0BC3E7BC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7543C-923A-B56D-A64C-B49EAA2A5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8394A-1318-49C3-8DC6-B17086F93F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717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56D38-31ED-DCD9-AABE-A73F83C62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C922E2-1CD9-3AAC-6381-5573C2104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FAC8E-255E-DF65-080D-0E05D6C9A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4DD9-1994-4E24-8670-512DA3BD47A6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02980-2F8C-F7D1-C44B-614C326FD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0D627-F1AC-5C4E-D7BB-226B9BCD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8394A-1318-49C3-8DC6-B17086F93F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450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45016-E00C-4968-D613-080FD963A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6D744-393C-C1F4-B298-D4482F4C21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81370F-0DDB-682F-C174-0AC556A3E8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981568-B497-8785-936D-57D69084B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4DD9-1994-4E24-8670-512DA3BD47A6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99AB2B-D3B1-AB6B-F984-32BD20691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59997F-7516-9F61-E9DC-2278BC18B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8394A-1318-49C3-8DC6-B17086F93F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9340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08DF-D923-0C88-4242-B56BE2172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DE7633-E57A-36E3-0246-C7ABEF17B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EC7BBA-056A-78FB-1547-0868BD4EC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DF84BB-F650-1B9C-25BF-0F72585C4D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81602C-F885-AE06-23D8-0A0B0EF47B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375C5B-6146-813A-ABDF-9A04F29D4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4DD9-1994-4E24-8670-512DA3BD47A6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DFE52D-2A4B-7964-045E-21B967EF7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56862E-21B4-3490-4003-FBF5A529B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8394A-1318-49C3-8DC6-B17086F93F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4941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EE4B2-1311-8098-95E0-7F7BB44DD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31726E-0688-5E8C-242A-C64D003BD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4DD9-1994-4E24-8670-512DA3BD47A6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57D7B3-9781-D40C-E92C-6D599F7D3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8EEC40-23BA-AE31-01C7-6901189CF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8394A-1318-49C3-8DC6-B17086F93F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165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6BCC35-D09E-AA4D-CCB3-287E86690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4DD9-1994-4E24-8670-512DA3BD47A6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FBA1F0-771A-34BD-E454-B9CC7EA51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482B02-75B8-E635-9625-D69447A36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8394A-1318-49C3-8DC6-B17086F93F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7342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179F4-93DF-1F7F-9C0D-1E02C8903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2E230-266C-E410-2105-EA6776A0F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B01F84-A6B7-CDC0-109D-B46B0118C6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FAAD06-9833-D020-BAC3-00AEF2944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4DD9-1994-4E24-8670-512DA3BD47A6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8042C-1A13-BBD0-8367-0338063AD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4E2C78-A485-FB39-456F-D6C5D6142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8394A-1318-49C3-8DC6-B17086F93F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2503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7885F-8344-D866-9D84-12945299F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888893-0AA4-88FD-0950-6F1B20E653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F3BA0A-21D0-FDC1-E37C-9DF00AAF8A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D67A6A-552B-1FF4-3018-78D0AEAE5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4DD9-1994-4E24-8670-512DA3BD47A6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1D3B6-A375-06B8-FE68-10CD5A03A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CB276-273D-5FAD-2B89-5AD6C25E8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8394A-1318-49C3-8DC6-B17086F93F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2233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8D2C9-2EAC-BF2D-3325-1116EDE26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B9BA00-F11C-475C-F95E-09DBB3D106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CD505-8B20-0320-E624-A99A1EC2B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4DD9-1994-4E24-8670-512DA3BD47A6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F8971-2E2A-A44B-A086-8C0843DA1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7A460-3A66-681D-D2D5-9F06D9998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8394A-1318-49C3-8DC6-B17086F93F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185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4AF29E-3798-CC3D-1229-BE386D9FC3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3B599-6B67-5979-D914-18CD7BE39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2BF44D-D63B-83BE-ADD3-EF7CEF08B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4DD9-1994-4E24-8670-512DA3BD47A6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FACDE-8801-ECE9-D065-5B908A66E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7634A-755E-FB59-16C6-C27DD514E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8394A-1318-49C3-8DC6-B17086F93F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19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EC5956-ED54-740F-1AFB-EDEA583C4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4A87F0-05AE-89C2-4BCC-F2F214E92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A3CDF-5E6A-4B0A-ABEA-04B97BBACD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A74DD9-1994-4E24-8670-512DA3BD47A6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20548-7BE0-AC77-963D-29E4D12976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4DF45-C597-4812-B3A6-AF009FBF64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8394A-1318-49C3-8DC6-B17086F93F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194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7AE38-248F-F240-F227-D607C501D0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b="1" dirty="0"/>
              <a:t>Intelligent Threat Analysis and Surveillance System Using Multi-Module AI Fusion</a:t>
            </a:r>
            <a:endParaRPr lang="en-IN" sz="32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B00719-165A-63B4-DA49-93F3804E75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84859" y="3839848"/>
            <a:ext cx="4222282" cy="1655762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IN" sz="1800" dirty="0"/>
              <a:t>Batch ID : </a:t>
            </a:r>
            <a:r>
              <a:rPr lang="en-IN" sz="1800" b="1" dirty="0"/>
              <a:t>ECE002</a:t>
            </a:r>
          </a:p>
          <a:p>
            <a:pPr algn="just"/>
            <a:r>
              <a:rPr lang="en-IN" sz="1800" dirty="0"/>
              <a:t>Akash S - CB.EN.U4ECE23202</a:t>
            </a:r>
          </a:p>
          <a:p>
            <a:pPr algn="just"/>
            <a:r>
              <a:rPr lang="en-IN" sz="1800" dirty="0"/>
              <a:t>Harish Venkat - CB.EN.U4ECE23219</a:t>
            </a:r>
          </a:p>
          <a:p>
            <a:pPr algn="just"/>
            <a:r>
              <a:rPr lang="en-IN" sz="1800" dirty="0" err="1"/>
              <a:t>Krithash</a:t>
            </a:r>
            <a:r>
              <a:rPr lang="en-IN" sz="1800" dirty="0"/>
              <a:t> V - CB.EN.U4ECE232058</a:t>
            </a:r>
          </a:p>
          <a:p>
            <a:pPr algn="just"/>
            <a:r>
              <a:rPr lang="en-IN" sz="1800" dirty="0"/>
              <a:t>Faculty Mentor : </a:t>
            </a:r>
            <a:r>
              <a:rPr lang="en-IN" sz="1800" b="1" dirty="0"/>
              <a:t>Anila Satheesh B</a:t>
            </a:r>
          </a:p>
        </p:txBody>
      </p:sp>
      <p:pic>
        <p:nvPicPr>
          <p:cNvPr id="4" name="Picture 3" descr="Amrita Vishwa Vidyapeetham Horizontal Logo PNG (Transparent) SVG AI – Free  Download">
            <a:extLst>
              <a:ext uri="{FF2B5EF4-FFF2-40B4-BE49-F238E27FC236}">
                <a16:creationId xmlns:a16="http://schemas.microsoft.com/office/drawing/2014/main" id="{4CF4B730-B2C1-9BE2-9DDA-ADFE4BAE1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494" y="792478"/>
            <a:ext cx="5715012" cy="1267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321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56659" y="484290"/>
            <a:ext cx="110786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7" name="Agenda Item 1"/>
          <p:cNvSpPr txBox="1"/>
          <p:nvPr/>
        </p:nvSpPr>
        <p:spPr>
          <a:xfrm>
            <a:off x="1828800" y="1450000"/>
            <a:ext cx="4167200" cy="70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82880" anchor="ctr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sz="2000" b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Motivation</a:t>
            </a:r>
          </a:p>
        </p:txBody>
      </p:sp>
      <p:sp>
        <p:nvSpPr>
          <p:cNvPr id="8" name="Agenda Item 2"/>
          <p:cNvSpPr txBox="1"/>
          <p:nvPr/>
        </p:nvSpPr>
        <p:spPr>
          <a:xfrm>
            <a:off x="1828800" y="2400000"/>
            <a:ext cx="4167200" cy="70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82880" anchor="ctr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r>
              <a:rPr sz="2000" b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Objective</a:t>
            </a:r>
          </a:p>
        </p:txBody>
      </p:sp>
      <p:sp>
        <p:nvSpPr>
          <p:cNvPr id="9" name="Agenda Item 3"/>
          <p:cNvSpPr txBox="1"/>
          <p:nvPr/>
        </p:nvSpPr>
        <p:spPr>
          <a:xfrm>
            <a:off x="1828800" y="3350000"/>
            <a:ext cx="4167200" cy="70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82880" anchor="ctr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r>
              <a:rPr sz="2000" b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Milestones / Deliverables</a:t>
            </a:r>
          </a:p>
        </p:txBody>
      </p:sp>
      <p:sp>
        <p:nvSpPr>
          <p:cNvPr id="10" name="Agenda Item 4"/>
          <p:cNvSpPr txBox="1"/>
          <p:nvPr/>
        </p:nvSpPr>
        <p:spPr>
          <a:xfrm>
            <a:off x="1828800" y="4300000"/>
            <a:ext cx="4167200" cy="70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82880" anchor="ctr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r>
              <a:rPr sz="2000" b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Novelty / Contribution</a:t>
            </a:r>
          </a:p>
        </p:txBody>
      </p:sp>
      <p:sp>
        <p:nvSpPr>
          <p:cNvPr id="11" name="Agenda Item 5"/>
          <p:cNvSpPr txBox="1"/>
          <p:nvPr/>
        </p:nvSpPr>
        <p:spPr>
          <a:xfrm>
            <a:off x="1828800" y="5250000"/>
            <a:ext cx="4167200" cy="70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82880" anchor="ctr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  <a:r>
              <a:rPr sz="2000" b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Methodology</a:t>
            </a:r>
          </a:p>
        </p:txBody>
      </p:sp>
      <p:sp>
        <p:nvSpPr>
          <p:cNvPr id="12" name="Agenda Item 6"/>
          <p:cNvSpPr txBox="1"/>
          <p:nvPr/>
        </p:nvSpPr>
        <p:spPr>
          <a:xfrm>
            <a:off x="6296000" y="1450000"/>
            <a:ext cx="4167200" cy="70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82880" anchor="ctr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  <a:r>
              <a:rPr sz="2000" b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Dataset</a:t>
            </a:r>
          </a:p>
        </p:txBody>
      </p:sp>
      <p:sp>
        <p:nvSpPr>
          <p:cNvPr id="13" name="Agenda Item 7"/>
          <p:cNvSpPr txBox="1"/>
          <p:nvPr/>
        </p:nvSpPr>
        <p:spPr>
          <a:xfrm>
            <a:off x="6296000" y="2400000"/>
            <a:ext cx="4167200" cy="70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82880" anchor="ctr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sz="2000" b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Model Selection</a:t>
            </a:r>
          </a:p>
        </p:txBody>
      </p:sp>
      <p:sp>
        <p:nvSpPr>
          <p:cNvPr id="15" name="Agenda Item 9"/>
          <p:cNvSpPr txBox="1"/>
          <p:nvPr/>
        </p:nvSpPr>
        <p:spPr>
          <a:xfrm>
            <a:off x="6296000" y="3528905"/>
            <a:ext cx="4167200" cy="40011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82880" anchor="ctr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Literature Survey</a:t>
            </a:r>
          </a:p>
        </p:txBody>
      </p:sp>
      <p:sp>
        <p:nvSpPr>
          <p:cNvPr id="16" name="Agenda Item 10"/>
          <p:cNvSpPr txBox="1"/>
          <p:nvPr/>
        </p:nvSpPr>
        <p:spPr>
          <a:xfrm>
            <a:off x="6296000" y="4300000"/>
            <a:ext cx="4167200" cy="70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82880" anchor="ctr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sz="2000" b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Research Gap</a:t>
            </a:r>
          </a:p>
        </p:txBody>
      </p:sp>
    </p:spTree>
    <p:extLst>
      <p:ext uri="{BB962C8B-B14F-4D97-AF65-F5344CB8AC3E}">
        <p14:creationId xmlns:p14="http://schemas.microsoft.com/office/powerpoint/2010/main" val="1493478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1" y="484290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4" name="Headline"/>
          <p:cNvSpPr txBox="1"/>
          <p:nvPr/>
        </p:nvSpPr>
        <p:spPr>
          <a:xfrm>
            <a:off x="800100" y="1600200"/>
            <a:ext cx="10591800" cy="1143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n-I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“Manual CCTV monitoring is too slow to stop an active threat.”</a:t>
            </a:r>
          </a:p>
        </p:txBody>
      </p:sp>
      <p:cxnSp>
        <p:nvCxnSpPr>
          <p:cNvPr id="20" name="Divider"/>
          <p:cNvCxnSpPr/>
          <p:nvPr/>
        </p:nvCxnSpPr>
        <p:spPr>
          <a:xfrm>
            <a:off x="800100" y="2895600"/>
            <a:ext cx="10591800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oint 1"/>
          <p:cNvSpPr txBox="1"/>
          <p:nvPr/>
        </p:nvSpPr>
        <p:spPr>
          <a:xfrm>
            <a:off x="800100" y="3200400"/>
            <a:ext cx="3297266" cy="3200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CCTV systems rely on continuous human monitoring, making them prone to delayed responses and missed security threats.</a:t>
            </a:r>
          </a:p>
        </p:txBody>
      </p:sp>
      <p:sp>
        <p:nvSpPr>
          <p:cNvPr id="6" name="Point 2"/>
          <p:cNvSpPr txBox="1"/>
          <p:nvPr/>
        </p:nvSpPr>
        <p:spPr>
          <a:xfrm>
            <a:off x="4447366" y="3200400"/>
            <a:ext cx="3297266" cy="3200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growing demand for intelligent surveillance capable of automatically detecting weapons, tracking individuals, and assessing threats in real time.</a:t>
            </a:r>
          </a:p>
        </p:txBody>
      </p:sp>
      <p:sp>
        <p:nvSpPr>
          <p:cNvPr id="7" name="Point 3"/>
          <p:cNvSpPr txBox="1"/>
          <p:nvPr/>
        </p:nvSpPr>
        <p:spPr>
          <a:xfrm>
            <a:off x="8094632" y="3200400"/>
            <a:ext cx="3297266" cy="3200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AI with surveillance transforms passive CCTV infrastructure into an intelligent, automated system that improves response time and reduces manual effort.</a:t>
            </a:r>
          </a:p>
        </p:txBody>
      </p:sp>
    </p:spTree>
    <p:extLst>
      <p:ext uri="{BB962C8B-B14F-4D97-AF65-F5344CB8AC3E}">
        <p14:creationId xmlns:p14="http://schemas.microsoft.com/office/powerpoint/2010/main" val="781180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582239-D968-D008-8F0D-4A1B725C55CF}"/>
              </a:ext>
            </a:extLst>
          </p:cNvPr>
          <p:cNvSpPr txBox="1"/>
          <p:nvPr/>
        </p:nvSpPr>
        <p:spPr>
          <a:xfrm>
            <a:off x="556661" y="599793"/>
            <a:ext cx="110786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DC553B-83AC-C3E2-E8CD-F4994D862682}"/>
              </a:ext>
            </a:extLst>
          </p:cNvPr>
          <p:cNvSpPr txBox="1"/>
          <p:nvPr/>
        </p:nvSpPr>
        <p:spPr>
          <a:xfrm>
            <a:off x="800100" y="1600200"/>
            <a:ext cx="10591800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Detect persons and weapons (guns and knives) in real-time video streams, and perform robust multi-person tracking with stable identity assignment across consecutive frames.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Re-identify individuals who leave and later re-enter the camera's field of view, preserving their identity and threat history throughout the surveillance session.</a:t>
            </a:r>
          </a:p>
          <a:p>
            <a:endParaRPr lang="en-IN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Estimate human pose to detect arm-raised behaviour and accurately associate detected weapons with the corresponding individuals using spatial and pose- based analysis.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Assess the threat level of each tracked individual based on weapon presence and behavioural cues, and automatically generate alerts, record evidence, and log security events for post-incident analysis.</a:t>
            </a:r>
          </a:p>
          <a:p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425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56659" y="484290"/>
            <a:ext cx="110786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Milestones / Deliverables</a:t>
            </a:r>
          </a:p>
        </p:txBody>
      </p:sp>
      <p:cxnSp>
        <p:nvCxnSpPr>
          <p:cNvPr id="200" name="Timeline Line"/>
          <p:cNvCxnSpPr/>
          <p:nvPr/>
        </p:nvCxnSpPr>
        <p:spPr>
          <a:xfrm>
            <a:off x="900000" y="3600000"/>
            <a:ext cx="103920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Node 1"/>
          <p:cNvSpPr/>
          <p:nvPr/>
        </p:nvSpPr>
        <p:spPr>
          <a:xfrm>
            <a:off x="823800" y="3523800"/>
            <a:ext cx="152400" cy="1524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cxnSp>
        <p:nvCxnSpPr>
          <p:cNvPr id="220" name="Connector 1"/>
          <p:cNvCxnSpPr/>
          <p:nvPr/>
        </p:nvCxnSpPr>
        <p:spPr>
          <a:xfrm>
            <a:off x="900000" y="3350000"/>
            <a:ext cx="0" cy="25000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Label 1"/>
          <p:cNvSpPr txBox="1"/>
          <p:nvPr/>
        </p:nvSpPr>
        <p:spPr>
          <a:xfrm>
            <a:off x="67120" y="1261900"/>
            <a:ext cx="2200000" cy="2050000"/>
          </a:xfrm>
          <a:prstGeom prst="rect">
            <a:avLst/>
          </a:prstGeom>
          <a:noFill/>
        </p:spPr>
        <p:txBody>
          <a:bodyPr wrap="square" anchor="b">
            <a:noAutofit/>
          </a:bodyPr>
          <a:lstStyle/>
          <a:p>
            <a:pPr algn="ctr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 – Jul 2026</a:t>
            </a:r>
          </a:p>
          <a:p>
            <a:pPr algn="ctr">
              <a:spcBef>
                <a:spcPts val="200"/>
              </a:spcBef>
            </a:pPr>
            <a:r>
              <a:rPr lang="en-IN" sz="1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Detection Pipeline Development</a:t>
            </a:r>
          </a:p>
          <a:p>
            <a:pPr algn="ctr">
              <a:spcBef>
                <a:spcPts val="300"/>
              </a:spcBef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 person &amp; </a:t>
            </a:r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DeepSORT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OSNet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re-identification integrated; persistent identity across occlusions achieved ; real-time pipeline optimized.</a:t>
            </a:r>
          </a:p>
        </p:txBody>
      </p:sp>
      <p:sp>
        <p:nvSpPr>
          <p:cNvPr id="211" name="Node 2"/>
          <p:cNvSpPr/>
          <p:nvPr/>
        </p:nvSpPr>
        <p:spPr>
          <a:xfrm>
            <a:off x="3421800" y="3523800"/>
            <a:ext cx="152400" cy="1524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cxnSp>
        <p:nvCxnSpPr>
          <p:cNvPr id="221" name="Connector 2"/>
          <p:cNvCxnSpPr/>
          <p:nvPr/>
        </p:nvCxnSpPr>
        <p:spPr>
          <a:xfrm>
            <a:off x="3498000" y="3600000"/>
            <a:ext cx="0" cy="25000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Label 2"/>
          <p:cNvSpPr txBox="1"/>
          <p:nvPr/>
        </p:nvSpPr>
        <p:spPr>
          <a:xfrm>
            <a:off x="2398000" y="3900000"/>
            <a:ext cx="2200000" cy="205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 – Sep 2026</a:t>
            </a:r>
          </a:p>
          <a:p>
            <a:pPr algn="ctr">
              <a:spcBef>
                <a:spcPts val="200"/>
              </a:spcBef>
            </a:pPr>
            <a:r>
              <a:rPr lang="en-IN" sz="1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 &amp; Identity Management</a:t>
            </a:r>
          </a:p>
          <a:p>
            <a:pPr algn="ctr">
              <a:spcBef>
                <a:spcPts val="300"/>
              </a:spcBef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weapon detection integrated; custom dataset trained, weapon-person association,</a:t>
            </a:r>
          </a:p>
        </p:txBody>
      </p:sp>
      <p:sp>
        <p:nvSpPr>
          <p:cNvPr id="212" name="Node 3"/>
          <p:cNvSpPr/>
          <p:nvPr/>
        </p:nvSpPr>
        <p:spPr>
          <a:xfrm>
            <a:off x="6019800" y="3523800"/>
            <a:ext cx="152400" cy="1524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cxnSp>
        <p:nvCxnSpPr>
          <p:cNvPr id="222" name="Connector 3"/>
          <p:cNvCxnSpPr/>
          <p:nvPr/>
        </p:nvCxnSpPr>
        <p:spPr>
          <a:xfrm>
            <a:off x="6096000" y="3350000"/>
            <a:ext cx="0" cy="25000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Label 3"/>
          <p:cNvSpPr txBox="1"/>
          <p:nvPr/>
        </p:nvSpPr>
        <p:spPr>
          <a:xfrm>
            <a:off x="4996000" y="1300000"/>
            <a:ext cx="2200000" cy="2050000"/>
          </a:xfrm>
          <a:prstGeom prst="rect">
            <a:avLst/>
          </a:prstGeom>
          <a:noFill/>
        </p:spPr>
        <p:txBody>
          <a:bodyPr wrap="square" anchor="b">
            <a:noAutofit/>
          </a:bodyPr>
          <a:lstStyle/>
          <a:p>
            <a:pPr algn="ctr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Oct – Nov 2026</a:t>
            </a:r>
          </a:p>
          <a:p>
            <a:pPr algn="ctr">
              <a:spcBef>
                <a:spcPts val="200"/>
              </a:spcBef>
            </a:pPr>
            <a:r>
              <a:rPr lang="en-IN" sz="1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 Intelligence &amp; Decision Engine</a:t>
            </a:r>
          </a:p>
          <a:p>
            <a:pPr algn="ctr">
              <a:spcBef>
                <a:spcPts val="300"/>
              </a:spcBef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Pose estimation and hysteresis-based Threat State Machine developed.</a:t>
            </a:r>
          </a:p>
        </p:txBody>
      </p:sp>
      <p:sp>
        <p:nvSpPr>
          <p:cNvPr id="213" name="Node 4"/>
          <p:cNvSpPr/>
          <p:nvPr/>
        </p:nvSpPr>
        <p:spPr>
          <a:xfrm>
            <a:off x="8617800" y="3523800"/>
            <a:ext cx="152400" cy="1524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cxnSp>
        <p:nvCxnSpPr>
          <p:cNvPr id="223" name="Connector 4"/>
          <p:cNvCxnSpPr/>
          <p:nvPr/>
        </p:nvCxnSpPr>
        <p:spPr>
          <a:xfrm>
            <a:off x="8694000" y="3600000"/>
            <a:ext cx="0" cy="25000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Label 4"/>
          <p:cNvSpPr txBox="1"/>
          <p:nvPr/>
        </p:nvSpPr>
        <p:spPr>
          <a:xfrm>
            <a:off x="7594000" y="3900000"/>
            <a:ext cx="2200000" cy="205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 2026 – Jan 2027</a:t>
            </a:r>
          </a:p>
          <a:p>
            <a:pPr algn="ctr">
              <a:spcBef>
                <a:spcPts val="200"/>
              </a:spcBef>
            </a:pPr>
            <a:r>
              <a:rPr lang="en-IN" sz="1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Integration &amp; Validation</a:t>
            </a:r>
          </a:p>
          <a:p>
            <a:pPr algn="ctr">
              <a:spcBef>
                <a:spcPts val="300"/>
              </a:spcBef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modules unified; alert management (logging, screenshots, recording) implemented and validated.</a:t>
            </a:r>
          </a:p>
        </p:txBody>
      </p:sp>
      <p:sp>
        <p:nvSpPr>
          <p:cNvPr id="214" name="Node 5"/>
          <p:cNvSpPr/>
          <p:nvPr/>
        </p:nvSpPr>
        <p:spPr>
          <a:xfrm>
            <a:off x="11215800" y="3523800"/>
            <a:ext cx="152400" cy="1524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cxnSp>
        <p:nvCxnSpPr>
          <p:cNvPr id="224" name="Connector 5"/>
          <p:cNvCxnSpPr/>
          <p:nvPr/>
        </p:nvCxnSpPr>
        <p:spPr>
          <a:xfrm>
            <a:off x="11292000" y="3350000"/>
            <a:ext cx="0" cy="25000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Label 5"/>
          <p:cNvSpPr txBox="1"/>
          <p:nvPr/>
        </p:nvSpPr>
        <p:spPr>
          <a:xfrm>
            <a:off x="9742000" y="1300000"/>
            <a:ext cx="2200000" cy="2050000"/>
          </a:xfrm>
          <a:prstGeom prst="rect">
            <a:avLst/>
          </a:prstGeom>
          <a:noFill/>
        </p:spPr>
        <p:txBody>
          <a:bodyPr wrap="square" anchor="b">
            <a:noAutofit/>
          </a:bodyPr>
          <a:lstStyle/>
          <a:p>
            <a:pPr algn="ctr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Feb – Mar 2027</a:t>
            </a:r>
          </a:p>
          <a:p>
            <a:pPr algn="ctr">
              <a:spcBef>
                <a:spcPts val="200"/>
              </a:spcBef>
            </a:pPr>
            <a:r>
              <a:rPr lang="en-IN" sz="1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Dissemination &amp; Closure</a:t>
            </a:r>
          </a:p>
          <a:p>
            <a:pPr algn="ctr">
              <a:spcBef>
                <a:spcPts val="300"/>
              </a:spcBef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Benchmarking, final research paper, documentation, and project report submission completed.</a:t>
            </a:r>
          </a:p>
        </p:txBody>
      </p:sp>
    </p:spTree>
    <p:extLst>
      <p:ext uri="{BB962C8B-B14F-4D97-AF65-F5344CB8AC3E}">
        <p14:creationId xmlns:p14="http://schemas.microsoft.com/office/powerpoint/2010/main" val="1234567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56659" y="484290"/>
            <a:ext cx="110786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 / Contribution</a:t>
            </a:r>
          </a:p>
        </p:txBody>
      </p:sp>
      <p:sp>
        <p:nvSpPr>
          <p:cNvPr id="101" name="Novelty Card 1"/>
          <p:cNvSpPr txBox="1"/>
          <p:nvPr/>
        </p:nvSpPr>
        <p:spPr>
          <a:xfrm>
            <a:off x="800100" y="1350000"/>
            <a:ext cx="5145900" cy="120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	Multi-Module AI Fusion</a:t>
            </a:r>
          </a:p>
          <a:p>
            <a:pPr>
              <a:spcBef>
                <a:spcPts val="400"/>
              </a:spcBef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weapon detection, tracking, Re-ID, and pose estimation into one real-time pipeline — systems-level innovation, not just a single algorithm.</a:t>
            </a:r>
          </a:p>
        </p:txBody>
      </p:sp>
      <p:sp>
        <p:nvSpPr>
          <p:cNvPr id="102" name="Novelty Card 2"/>
          <p:cNvSpPr txBox="1"/>
          <p:nvPr/>
        </p:nvSpPr>
        <p:spPr>
          <a:xfrm>
            <a:off x="800100" y="2700000"/>
            <a:ext cx="5145900" cy="120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	Threat Analysis, Not Just Detection</a:t>
            </a:r>
          </a:p>
          <a:p>
            <a:pPr>
              <a:spcBef>
                <a:spcPts val="400"/>
              </a:spcBef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Goes beyond “is there a weapon?” to assess who is carrying it, their behaviour, and an overall threat level.</a:t>
            </a:r>
          </a:p>
        </p:txBody>
      </p:sp>
      <p:sp>
        <p:nvSpPr>
          <p:cNvPr id="103" name="Novelty Card 3"/>
          <p:cNvSpPr txBox="1"/>
          <p:nvPr/>
        </p:nvSpPr>
        <p:spPr>
          <a:xfrm>
            <a:off x="800100" y="4050000"/>
            <a:ext cx="5145900" cy="120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	Persistent Identity via Re-ID</a:t>
            </a:r>
          </a:p>
          <a:p>
            <a:pPr>
              <a:spcBef>
                <a:spcPts val="400"/>
              </a:spcBef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Reconnects a tracked individual after temporary disappearance or re-entry using OSNet-based gallery matching.</a:t>
            </a:r>
          </a:p>
        </p:txBody>
      </p:sp>
      <p:sp>
        <p:nvSpPr>
          <p:cNvPr id="104" name="Novelty Card 4"/>
          <p:cNvSpPr txBox="1"/>
          <p:nvPr/>
        </p:nvSpPr>
        <p:spPr>
          <a:xfrm>
            <a:off x="800100" y="5400000"/>
            <a:ext cx="5145900" cy="120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	Score Fusion</a:t>
            </a:r>
          </a:p>
          <a:p>
            <a:pPr>
              <a:spcBef>
                <a:spcPts val="400"/>
              </a:spcBef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embedding similarity with body aspect ratio to reduce false matches when people wear similar clothing.</a:t>
            </a:r>
          </a:p>
        </p:txBody>
      </p:sp>
      <p:sp>
        <p:nvSpPr>
          <p:cNvPr id="105" name="Novelty Card 5"/>
          <p:cNvSpPr txBox="1"/>
          <p:nvPr/>
        </p:nvSpPr>
        <p:spPr>
          <a:xfrm>
            <a:off x="6246000" y="1350000"/>
            <a:ext cx="5145900" cy="120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05	Modular Architecture</a:t>
            </a:r>
          </a:p>
          <a:p>
            <a:pPr>
              <a:spcBef>
                <a:spcPts val="400"/>
              </a:spcBef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Detector and tracker modules (e.g., YOLO, ByteTrack) can be upgraded or swapped without redesigning the system.</a:t>
            </a:r>
          </a:p>
        </p:txBody>
      </p:sp>
      <p:sp>
        <p:nvSpPr>
          <p:cNvPr id="106" name="Novelty Card 6"/>
          <p:cNvSpPr txBox="1"/>
          <p:nvPr/>
        </p:nvSpPr>
        <p:spPr>
          <a:xfrm>
            <a:off x="6246000" y="2700000"/>
            <a:ext cx="5145900" cy="120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06	Practical Real-Time Design</a:t>
            </a:r>
          </a:p>
          <a:p>
            <a:pPr>
              <a:spcBef>
                <a:spcPts val="400"/>
              </a:spcBef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for real-time operation on standard-GPU, CCTV-ready hardware, rather than offline high-end-GPU benchmarks.</a:t>
            </a:r>
          </a:p>
        </p:txBody>
      </p:sp>
      <p:sp>
        <p:nvSpPr>
          <p:cNvPr id="107" name="Novelty Card 7"/>
          <p:cNvSpPr txBox="1"/>
          <p:nvPr/>
        </p:nvSpPr>
        <p:spPr>
          <a:xfrm>
            <a:off x="6246000" y="4050000"/>
            <a:ext cx="5145900" cy="120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07	Intelligent Alert Generation</a:t>
            </a:r>
          </a:p>
          <a:p>
            <a:pPr>
              <a:spcBef>
                <a:spcPts val="400"/>
              </a:spcBef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Fuses weapon, pose, identity, and tracking history into a threat level before generating an alert — a decision-support system.</a:t>
            </a:r>
          </a:p>
        </p:txBody>
      </p:sp>
      <p:sp>
        <p:nvSpPr>
          <p:cNvPr id="108" name="Novelty Card 8"/>
          <p:cNvSpPr txBox="1"/>
          <p:nvPr/>
        </p:nvSpPr>
        <p:spPr>
          <a:xfrm>
            <a:off x="6246000" y="5400000"/>
            <a:ext cx="5145900" cy="120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08	Designed for Future Expansion</a:t>
            </a:r>
          </a:p>
          <a:p>
            <a:pPr>
              <a:spcBef>
                <a:spcPts val="400"/>
              </a:spcBef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already supports multi-camera input, cross-camera Re-ID, edge deployment, and audio event detection.</a:t>
            </a:r>
          </a:p>
        </p:txBody>
      </p:sp>
    </p:spTree>
    <p:extLst>
      <p:ext uri="{BB962C8B-B14F-4D97-AF65-F5344CB8AC3E}">
        <p14:creationId xmlns:p14="http://schemas.microsoft.com/office/powerpoint/2010/main" val="1312740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56659" y="484290"/>
            <a:ext cx="110786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5" name="Column 1"/>
          <p:cNvSpPr txBox="1"/>
          <p:nvPr/>
        </p:nvSpPr>
        <p:spPr>
          <a:xfrm>
            <a:off x="800100" y="1371600"/>
            <a:ext cx="5095900" cy="5257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Video Acquisition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real-time frames from a CCTV camera or webcam and forwards each frame to the AI inference pipeline.</a:t>
            </a:r>
          </a:p>
          <a:p>
            <a:pPr>
              <a:spcBef>
                <a:spcPts val="1000"/>
              </a:spcBef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Person &amp; Weapon Detection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YOLOv8 models detect persons and weapons (guns, knives) in each frame, generating bounding boxes, class labels, and confidence scores.</a:t>
            </a:r>
          </a:p>
          <a:p>
            <a:pPr>
              <a:spcBef>
                <a:spcPts val="1000"/>
              </a:spcBef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Multi-Object Tracking &amp; Re-Identification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DeepSORT (Kalman Filter + Hungarian Algorithm, MobileNetv2) maintains identity across frames; OSNet re-identifies individuals who leave and re-enter the scene.</a:t>
            </a:r>
          </a:p>
          <a:p>
            <a:pPr>
              <a:spcBef>
                <a:spcPts val="1000"/>
              </a:spcBef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Pose Estimation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MediaPipe Pose extracts wrist, elbow, shoulder, and hip landmarks to support behavioural analysis and weapon-person association.</a:t>
            </a:r>
          </a:p>
        </p:txBody>
      </p:sp>
      <p:sp>
        <p:nvSpPr>
          <p:cNvPr id="6" name="Column 2"/>
          <p:cNvSpPr txBox="1"/>
          <p:nvPr/>
        </p:nvSpPr>
        <p:spPr>
          <a:xfrm>
            <a:off x="6296000" y="1371600"/>
            <a:ext cx="5095900" cy="5257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Weapon-Person Association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three-stage geometric approach - wrist proximity, containment fraction, and IoU-based matching - assigns each weapon to the correct individual.</a:t>
            </a:r>
          </a:p>
          <a:p>
            <a:pPr>
              <a:spcBef>
                <a:spcPts val="1000"/>
              </a:spcBef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Threat Assessment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rule-based Threat State Machine classifies each individual as SAFE, CAUTION, HIGH or CRITICAL with hysteresis to prevent unstable fluctuations.</a:t>
            </a:r>
          </a:p>
          <a:p>
            <a:pPr>
              <a:spcBef>
                <a:spcPts val="1000"/>
              </a:spcBef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Alert Generation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overlays, audio alarms, event logging, screenshots, and incident recording are triggered based on the assessed threat level.</a:t>
            </a:r>
          </a:p>
        </p:txBody>
      </p:sp>
    </p:spTree>
    <p:extLst>
      <p:ext uri="{BB962C8B-B14F-4D97-AF65-F5344CB8AC3E}">
        <p14:creationId xmlns:p14="http://schemas.microsoft.com/office/powerpoint/2010/main" val="1639052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657C89-3DB0-0C45-F074-EFD848E909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40" r="-1188" b="7338"/>
          <a:stretch>
            <a:fillRect/>
          </a:stretch>
        </p:blipFill>
        <p:spPr>
          <a:xfrm>
            <a:off x="304800" y="481781"/>
            <a:ext cx="11720052" cy="565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779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2D32F-B8E3-CCD7-CEE0-95EC03502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600"/>
            <a:ext cx="10515600" cy="61436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9949754-8604-6D5F-F634-8C1BC286DF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3776498"/>
              </p:ext>
            </p:extLst>
          </p:nvPr>
        </p:nvGraphicFramePr>
        <p:xfrm>
          <a:off x="838200" y="969963"/>
          <a:ext cx="10716769" cy="515324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94501">
                  <a:extLst>
                    <a:ext uri="{9D8B030D-6E8A-4147-A177-3AD203B41FA5}">
                      <a16:colId xmlns:a16="http://schemas.microsoft.com/office/drawing/2014/main" val="541776261"/>
                    </a:ext>
                  </a:extLst>
                </a:gridCol>
                <a:gridCol w="1867014">
                  <a:extLst>
                    <a:ext uri="{9D8B030D-6E8A-4147-A177-3AD203B41FA5}">
                      <a16:colId xmlns:a16="http://schemas.microsoft.com/office/drawing/2014/main" val="1115199853"/>
                    </a:ext>
                  </a:extLst>
                </a:gridCol>
                <a:gridCol w="1253098">
                  <a:extLst>
                    <a:ext uri="{9D8B030D-6E8A-4147-A177-3AD203B41FA5}">
                      <a16:colId xmlns:a16="http://schemas.microsoft.com/office/drawing/2014/main" val="2551758451"/>
                    </a:ext>
                  </a:extLst>
                </a:gridCol>
                <a:gridCol w="2452610">
                  <a:extLst>
                    <a:ext uri="{9D8B030D-6E8A-4147-A177-3AD203B41FA5}">
                      <a16:colId xmlns:a16="http://schemas.microsoft.com/office/drawing/2014/main" val="1781362413"/>
                    </a:ext>
                  </a:extLst>
                </a:gridCol>
                <a:gridCol w="2242100">
                  <a:extLst>
                    <a:ext uri="{9D8B030D-6E8A-4147-A177-3AD203B41FA5}">
                      <a16:colId xmlns:a16="http://schemas.microsoft.com/office/drawing/2014/main" val="1901969164"/>
                    </a:ext>
                  </a:extLst>
                </a:gridCol>
                <a:gridCol w="2407446">
                  <a:extLst>
                    <a:ext uri="{9D8B030D-6E8A-4147-A177-3AD203B41FA5}">
                      <a16:colId xmlns:a16="http://schemas.microsoft.com/office/drawing/2014/main" val="4100014887"/>
                    </a:ext>
                  </a:extLst>
                </a:gridCol>
              </a:tblGrid>
              <a:tr h="1929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S.No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effectLst/>
                        </a:rPr>
                        <a:t>Title of the Paper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Publication &amp; Year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Methodology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Limitations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Inferences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extLst>
                  <a:ext uri="{0D108BD9-81ED-4DB2-BD59-A6C34878D82A}">
                    <a16:rowId xmlns:a16="http://schemas.microsoft.com/office/drawing/2014/main" val="559806035"/>
                  </a:ext>
                </a:extLst>
              </a:tr>
              <a:tr h="5889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1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A Multi-Attention Approach for Person Re-Identification Using Deep Learning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Sensors (MDPI), 2023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dirty="0">
                          <a:effectLst/>
                        </a:rPr>
                        <a:t>Proposes a multi-attention person Re-ID framework combining a Position Attention Module (PAM) and Efficient Channel Attention (ECA) within a multi-part feature network to jointly learn spatial, channel, and contextual features. Evaluated on Market-1501, DukeMTMC-reID, and CUHK03, reaching up to 95.93% Rank-1 (96.41% after re-ranking).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Targets person Re-ID only, not full surveillance (no detection, tracking, or threat analysis). Depends on accurate person detection and large annotated datasets, and adds computational overhead that can limit edge deployment; performance still degrades under severe occlusion or poor illumination.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Shows that combining spatial (PAM) and channel (ECA) attention significantly improves discriminative Re-ID features and robustness to appearance variation, reinforcing attention mechanisms as valuable for multi-camera person tracking in intelligent surveillance.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extLst>
                  <a:ext uri="{0D108BD9-81ED-4DB2-BD59-A6C34878D82A}">
                    <a16:rowId xmlns:a16="http://schemas.microsoft.com/office/drawing/2014/main" val="56879843"/>
                  </a:ext>
                </a:extLst>
              </a:tr>
              <a:tr h="5221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2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AI-Based Weapon Detection for Security Surveillance: Recent Research Advances (2016–2025)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Electronics (MDPI), 2025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PRISMA-based systematic review of 101 papers (2016–2025) comparing ML, CNN, Faster R-CNN, SSD, YOLO (v1–v12), Transformer, and hybrid models for weapon detection across image, video, infrared, X-ray, and multimodal inputs, benchmarked on Precision, Recall, F1-score, and mAP for real-time surveillance and smart-city deployment.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dirty="0">
                          <a:effectLst/>
                        </a:rPr>
                        <a:t>As a review, it proposes no new model and its conclusions inherit inconsistencies from the surveyed studies (differing datasets/metrics). Identifies unresolved challenges: dataset variability, lack of standardized benchmarks, occlusion, poor illumination, small-object detection, privacy, and compute cost.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Concludes YOLOv5–YOLOv8 offer the best speed/accuracy trade-off for real-time detection while Faster/Mask R-CNN favor localization accuracy; calls for standardized datasets, lightweight edge models, and real-world validation.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extLst>
                  <a:ext uri="{0D108BD9-81ED-4DB2-BD59-A6C34878D82A}">
                    <a16:rowId xmlns:a16="http://schemas.microsoft.com/office/drawing/2014/main" val="354306771"/>
                  </a:ext>
                </a:extLst>
              </a:tr>
              <a:tr h="4553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3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dirty="0">
                          <a:effectLst/>
                        </a:rPr>
                        <a:t>BlazePose GHUM Holistic: Real-time 3D Human Landmarks and Pose Estimation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arXiv, 2022 (Google Research)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dirty="0">
                          <a:effectLst/>
                        </a:rPr>
                        <a:t>Lightweight real-time 3D human pose framework combining BlazePose body-landmark detection, a hand re-crop/landmark module, and a GHUM statistical body model; predicts 33 body + 21×2 hand landmarks via a detector-tracker pipeline, with an MLP-Mixer-based GHUM Lifter converting landmarks to pose/shape. Runs at ~15 FPS on mobile.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Focused solely on pose estimation — no detection, tracking, or activity recognition. Accuracy depends on clear body visibility and degrades under heavy occlusion, extreme viewpoints, or overlapping people; facial expression modeling remains limited.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dirty="0">
                          <a:effectLst/>
                        </a:rPr>
                        <a:t>Demonstrates that accurate on-device 3D pose estimation from a single RGB camera is practical in real time, establishing a strong basis for pose-driven behaviour-analysis modules within intelligent surveillance systems such as ours.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extLst>
                  <a:ext uri="{0D108BD9-81ED-4DB2-BD59-A6C34878D82A}">
                    <a16:rowId xmlns:a16="http://schemas.microsoft.com/office/drawing/2014/main" val="3657886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4709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54C1C-FC15-AE6B-A5D2-51EB47259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F56D88E-6D71-DF94-3476-CCFDF94BF9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3412558"/>
              </p:ext>
            </p:extLst>
          </p:nvPr>
        </p:nvGraphicFramePr>
        <p:xfrm>
          <a:off x="448734" y="306113"/>
          <a:ext cx="11294532" cy="525932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21160">
                  <a:extLst>
                    <a:ext uri="{9D8B030D-6E8A-4147-A177-3AD203B41FA5}">
                      <a16:colId xmlns:a16="http://schemas.microsoft.com/office/drawing/2014/main" val="541776261"/>
                    </a:ext>
                  </a:extLst>
                </a:gridCol>
                <a:gridCol w="1967668">
                  <a:extLst>
                    <a:ext uri="{9D8B030D-6E8A-4147-A177-3AD203B41FA5}">
                      <a16:colId xmlns:a16="http://schemas.microsoft.com/office/drawing/2014/main" val="1115199853"/>
                    </a:ext>
                  </a:extLst>
                </a:gridCol>
                <a:gridCol w="1320655">
                  <a:extLst>
                    <a:ext uri="{9D8B030D-6E8A-4147-A177-3AD203B41FA5}">
                      <a16:colId xmlns:a16="http://schemas.microsoft.com/office/drawing/2014/main" val="2551758451"/>
                    </a:ext>
                  </a:extLst>
                </a:gridCol>
                <a:gridCol w="2584835">
                  <a:extLst>
                    <a:ext uri="{9D8B030D-6E8A-4147-A177-3AD203B41FA5}">
                      <a16:colId xmlns:a16="http://schemas.microsoft.com/office/drawing/2014/main" val="1781362413"/>
                    </a:ext>
                  </a:extLst>
                </a:gridCol>
                <a:gridCol w="2362977">
                  <a:extLst>
                    <a:ext uri="{9D8B030D-6E8A-4147-A177-3AD203B41FA5}">
                      <a16:colId xmlns:a16="http://schemas.microsoft.com/office/drawing/2014/main" val="1901969164"/>
                    </a:ext>
                  </a:extLst>
                </a:gridCol>
                <a:gridCol w="2537237">
                  <a:extLst>
                    <a:ext uri="{9D8B030D-6E8A-4147-A177-3AD203B41FA5}">
                      <a16:colId xmlns:a16="http://schemas.microsoft.com/office/drawing/2014/main" val="4100014887"/>
                    </a:ext>
                  </a:extLst>
                </a:gridCol>
              </a:tblGrid>
              <a:tr h="3653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S.No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effectLst/>
                        </a:rPr>
                        <a:t>Title of the Paper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Publication &amp; Year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effectLst/>
                        </a:rPr>
                        <a:t>Methodology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Limitations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Inferences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extLst>
                  <a:ext uri="{0D108BD9-81ED-4DB2-BD59-A6C34878D82A}">
                    <a16:rowId xmlns:a16="http://schemas.microsoft.com/office/drawing/2014/main" val="559806035"/>
                  </a:ext>
                </a:extLst>
              </a:tr>
              <a:tr h="13462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4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dirty="0">
                          <a:effectLst/>
                        </a:rPr>
                        <a:t>Body Part-Based Representation Learning for Occluded Person Re-Identification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dirty="0">
                          <a:effectLst/>
                        </a:rPr>
                        <a:t>arXiv, 2022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dirty="0">
                          <a:effectLst/>
                        </a:rPr>
                        <a:t>Proposes BPBreID for occluded person Re-ID using body-part attention, GiLt training, visibility-aware part matching, and holistic plus local feature learning. Evaluated on Market-1501, DukeMTMC-ReID, Occluded-Duke, Occluded-ReID, and P-DukeMTMC, achieving state-of-the-art performance under heavy occlusion.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Focuses only on person Re-ID and requires accurate human parsing. Does not include detection, tracking, behaviour analysis, or threat assessment. Performance decreases with severe occlusion or poor body-part localization.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dirty="0">
                          <a:effectLst/>
                        </a:rPr>
                        <a:t>Demonstrates that body-part attention and visibility-aware matching significantly improve Re-ID under occlusion. Highlights the importance of local body features for robust surveillance applications.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extLst>
                  <a:ext uri="{0D108BD9-81ED-4DB2-BD59-A6C34878D82A}">
                    <a16:rowId xmlns:a16="http://schemas.microsoft.com/office/drawing/2014/main" val="3100749099"/>
                  </a:ext>
                </a:extLst>
              </a:tr>
              <a:tr h="11827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5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ByteTrack: Multi-Object Tracking by Associating Every Detection Box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arXiv, 2022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Introduces the BYTE association algorithm that retains both high- and low-confidence detections for tracking. Uses Kalman Filter prediction, IoU/Re-ID matching, Hungarian Algorithm, and two-stage association to recover occluded targets. Evaluated on MOT17, MOT20, HiEve, and BDD100K with state-of-the-art real-time performance.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Focuses only on multi-object tracking and depends on an external detector. Does not perform Re-ID across cameras, weapon detection, pose estimation, behaviour analysis, or threat assessment.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Shows that associating low-confidence detections greatly improves tracking continuity and reduces identity fragmentation while maintaining real-time performance.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extLst>
                  <a:ext uri="{0D108BD9-81ED-4DB2-BD59-A6C34878D82A}">
                    <a16:rowId xmlns:a16="http://schemas.microsoft.com/office/drawing/2014/main" val="185554979"/>
                  </a:ext>
                </a:extLst>
              </a:tr>
              <a:tr h="20001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6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Development and Optimization of Deep Learning Models for Weapon Detection in Surveillance Videos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Applied Sciences (MDPI), 2022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dirty="0">
                          <a:effectLst/>
                        </a:rPr>
                        <a:t>Develops a real-time weapon detector using Scaled-YOLOv4, custom weapon datasets, extensive preprocessing, hyperparameter optimization, and TensorRT acceleration for Jetson Nano deployment. Achieves 92.1% mAP and high inference speed.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Limited to weapon detection and lacks tracking, person Re-ID, behaviour analysis, and threat assessment. Cannot identify the person carrying the weapon or preserve identity across frames.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dirty="0">
                          <a:effectLst/>
                        </a:rPr>
                        <a:t>Demonstrates that Scaled-YOLOv4 with TensorRT enables accurate and efficient edge-based weapon detection suitable for real-time surveillance.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extLst>
                  <a:ext uri="{0D108BD9-81ED-4DB2-BD59-A6C34878D82A}">
                    <a16:rowId xmlns:a16="http://schemas.microsoft.com/office/drawing/2014/main" val="2144222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299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5D71E-8C4F-FD05-C1B1-FEA204C73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0745075-8E66-81E7-3F06-6675E746C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553893"/>
              </p:ext>
            </p:extLst>
          </p:nvPr>
        </p:nvGraphicFramePr>
        <p:xfrm>
          <a:off x="292511" y="432535"/>
          <a:ext cx="11250168" cy="599293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19113">
                  <a:extLst>
                    <a:ext uri="{9D8B030D-6E8A-4147-A177-3AD203B41FA5}">
                      <a16:colId xmlns:a16="http://schemas.microsoft.com/office/drawing/2014/main" val="541776261"/>
                    </a:ext>
                  </a:extLst>
                </a:gridCol>
                <a:gridCol w="1959940">
                  <a:extLst>
                    <a:ext uri="{9D8B030D-6E8A-4147-A177-3AD203B41FA5}">
                      <a16:colId xmlns:a16="http://schemas.microsoft.com/office/drawing/2014/main" val="1115199853"/>
                    </a:ext>
                  </a:extLst>
                </a:gridCol>
                <a:gridCol w="1315468">
                  <a:extLst>
                    <a:ext uri="{9D8B030D-6E8A-4147-A177-3AD203B41FA5}">
                      <a16:colId xmlns:a16="http://schemas.microsoft.com/office/drawing/2014/main" val="2551758451"/>
                    </a:ext>
                  </a:extLst>
                </a:gridCol>
                <a:gridCol w="2574682">
                  <a:extLst>
                    <a:ext uri="{9D8B030D-6E8A-4147-A177-3AD203B41FA5}">
                      <a16:colId xmlns:a16="http://schemas.microsoft.com/office/drawing/2014/main" val="1781362413"/>
                    </a:ext>
                  </a:extLst>
                </a:gridCol>
                <a:gridCol w="2353695">
                  <a:extLst>
                    <a:ext uri="{9D8B030D-6E8A-4147-A177-3AD203B41FA5}">
                      <a16:colId xmlns:a16="http://schemas.microsoft.com/office/drawing/2014/main" val="1901969164"/>
                    </a:ext>
                  </a:extLst>
                </a:gridCol>
                <a:gridCol w="2527270">
                  <a:extLst>
                    <a:ext uri="{9D8B030D-6E8A-4147-A177-3AD203B41FA5}">
                      <a16:colId xmlns:a16="http://schemas.microsoft.com/office/drawing/2014/main" val="41000148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S.No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effectLst/>
                        </a:rPr>
                        <a:t>Title of the Paper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effectLst/>
                        </a:rPr>
                        <a:t>Publication &amp; Year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Methodology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Limitations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Inferences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extLst>
                  <a:ext uri="{0D108BD9-81ED-4DB2-BD59-A6C34878D82A}">
                    <a16:rowId xmlns:a16="http://schemas.microsoft.com/office/drawing/2014/main" val="559806035"/>
                  </a:ext>
                </a:extLst>
              </a:tr>
              <a:tr h="17577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7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Distributed Intelligent Video Surveillance for Early Armed Robbery Detection based on Deep Learning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IEEE, 2024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dirty="0">
                          <a:effectLst/>
                        </a:rPr>
                        <a:t>Presents a distributed edge-cloud surveillance system using YOLOv5s for weapon detection, TensorRT optimization, Momentum confidence accumulation, and 3DCNN for robbery verification. Integrates IoT, PostgreSQL, Android, and WhatsApp alerts.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Does not perform tracking, person Re-ID, or identity persistence. Knife detection remains challenging, and cloud communication introduces latency.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dirty="0">
                          <a:effectLst/>
                        </a:rPr>
                        <a:t>Demonstrates that combining edge intelligence with cloud verification improves robbery detection while reducing false positives in surveillance systems.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extLst>
                  <a:ext uri="{0D108BD9-81ED-4DB2-BD59-A6C34878D82A}">
                    <a16:rowId xmlns:a16="http://schemas.microsoft.com/office/drawing/2014/main" val="3080772828"/>
                  </a:ext>
                </a:extLst>
              </a:tr>
              <a:tr h="20006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8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Human Pose Estimation Using MediaPipe Pose and Optimization Method Based on a Humanoid Model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Applied Sciences (MDPI), 2023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Combines MediaPipe Pose with a humanoid kinematic model and uDEAS optimization to estimate accurate 3D human poses. Uses joint constraints and center-of-mass optimization for realistic posture reconstruction on low-cost hardware.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Supports only single-person pose estimation and depends on accurate landmark detection. Does not include detection, tracking, Re-ID, or surveillance intelligence.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Demonstrates that optimization-based pose estimation can achieve accurate real-time 3D pose reconstruction without GPU acceleration.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extLst>
                  <a:ext uri="{0D108BD9-81ED-4DB2-BD59-A6C34878D82A}">
                    <a16:rowId xmlns:a16="http://schemas.microsoft.com/office/drawing/2014/main" val="1203634325"/>
                  </a:ext>
                </a:extLst>
              </a:tr>
              <a:tr h="17577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9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Tran-GCN: A Transformer-Enhanced Graph Convolutional Network for Person Re-Identification in Monitoring Videos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IET Computer Vision, 2025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Combines OpenPose, ResNet-50, Transformer, and Graph Convolution Networks for robust person Re-ID. Uses pose features, local appearance, and global context with Triplet and Contrastive losses. Evaluated on Market-1501, DukeMTMC-ReID, and MSMT17.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Computationally expensive and requires large labelled datasets. Focuses only on Re-ID without detection, tracking, weapon detection, or threat analysis.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dirty="0">
                          <a:effectLst/>
                        </a:rPr>
                        <a:t>Demonstrates that combining pose, CNNs, Transformers, and GCNs significantly improves Re-ID robustness against pose variation and occlusion.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extLst>
                  <a:ext uri="{0D108BD9-81ED-4DB2-BD59-A6C34878D82A}">
                    <a16:rowId xmlns:a16="http://schemas.microsoft.com/office/drawing/2014/main" val="27898594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5379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0745075-8E66-81E7-3F06-6675E746C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553893"/>
              </p:ext>
            </p:extLst>
          </p:nvPr>
        </p:nvGraphicFramePr>
        <p:xfrm>
          <a:off x="292511" y="432535"/>
          <a:ext cx="11250168" cy="599293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19113">
                  <a:extLst>
                    <a:ext uri="{9D8B030D-6E8A-4147-A177-3AD203B41FA5}">
                      <a16:colId xmlns:a16="http://schemas.microsoft.com/office/drawing/2014/main" val="541776261"/>
                    </a:ext>
                  </a:extLst>
                </a:gridCol>
                <a:gridCol w="1959940">
                  <a:extLst>
                    <a:ext uri="{9D8B030D-6E8A-4147-A177-3AD203B41FA5}">
                      <a16:colId xmlns:a16="http://schemas.microsoft.com/office/drawing/2014/main" val="1115199853"/>
                    </a:ext>
                  </a:extLst>
                </a:gridCol>
                <a:gridCol w="1315468">
                  <a:extLst>
                    <a:ext uri="{9D8B030D-6E8A-4147-A177-3AD203B41FA5}">
                      <a16:colId xmlns:a16="http://schemas.microsoft.com/office/drawing/2014/main" val="2551758451"/>
                    </a:ext>
                  </a:extLst>
                </a:gridCol>
                <a:gridCol w="2574682">
                  <a:extLst>
                    <a:ext uri="{9D8B030D-6E8A-4147-A177-3AD203B41FA5}">
                      <a16:colId xmlns:a16="http://schemas.microsoft.com/office/drawing/2014/main" val="1781362413"/>
                    </a:ext>
                  </a:extLst>
                </a:gridCol>
                <a:gridCol w="2353695">
                  <a:extLst>
                    <a:ext uri="{9D8B030D-6E8A-4147-A177-3AD203B41FA5}">
                      <a16:colId xmlns:a16="http://schemas.microsoft.com/office/drawing/2014/main" val="1901969164"/>
                    </a:ext>
                  </a:extLst>
                </a:gridCol>
                <a:gridCol w="2527270">
                  <a:extLst>
                    <a:ext uri="{9D8B030D-6E8A-4147-A177-3AD203B41FA5}">
                      <a16:colId xmlns:a16="http://schemas.microsoft.com/office/drawing/2014/main" val="41000148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S.No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effectLst/>
                        </a:rPr>
                        <a:t>Title of the Paper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effectLst/>
                        </a:rPr>
                        <a:t>Publication &amp; Year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Methodology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Limitations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Inferences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extLst>
                  <a:ext uri="{0D108BD9-81ED-4DB2-BD59-A6C34878D82A}">
                    <a16:rowId xmlns:a16="http://schemas.microsoft.com/office/drawing/2014/main" val="559806035"/>
                  </a:ext>
                </a:extLst>
              </a:tr>
              <a:tr h="17577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10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Improving Handgun Detection Through a Combination of Visual Features and Body Pose-Based Data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Pattern Recognition (Elsevier), 2023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dirty="0">
                          <a:effectLst/>
                        </a:rPr>
                        <a:t>Combines OpenPose body keypoints with CNN and Vision Transformer-based visual features for handgun detection. Uses feature fusion and false-positive filtering to improve recognition under challenging CCTV conditions.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Depends heavily on accurate pose estimation and processes only individual images. Does not support tracking, Re-ID, behaviour analysis, or intelligent surveillance.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dirty="0">
                          <a:effectLst/>
                        </a:rPr>
                        <a:t>Shows that integrating body pose with visual appearance significantly improves handgun detection accuracy in surveillance imagery.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extLst>
                  <a:ext uri="{0D108BD9-81ED-4DB2-BD59-A6C34878D82A}">
                    <a16:rowId xmlns:a16="http://schemas.microsoft.com/office/drawing/2014/main" val="3080772828"/>
                  </a:ext>
                </a:extLst>
              </a:tr>
              <a:tr h="20006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11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Multi-scale and Attention Enhanced Graph Convolution Network for Skeleton-Based Violence Action Recognition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Frontiers in Neurorobotics, 2022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Proposes MSA-STGCN using multi-scale graph convolutions, SE attention, hybrid dilated convolutions, and four-stream skeleton representations for violence recognition. Evaluated on NTU RGB+D and Kinetics Skeleton datasets.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Depends on accurate skeleton extraction and recognizes only predefined violence actions. Does not include detection, tracking, Re-ID, or weapon recognition.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Demonstrates that attention-enhanced graph convolution effectively models spatial-temporal skeleton information for violence recognition.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extLst>
                  <a:ext uri="{0D108BD9-81ED-4DB2-BD59-A6C34878D82A}">
                    <a16:rowId xmlns:a16="http://schemas.microsoft.com/office/drawing/2014/main" val="1203634325"/>
                  </a:ext>
                </a:extLst>
              </a:tr>
              <a:tr h="17577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12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Real-Time Weapon Detection Using YOLOv8 for Enhanced Safety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arXiv, 2024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Implements a YOLOv8-based weapon detection framework using GAN-augmented datasets, data augmentation, FPN, and NMS for real-time surveillance. Achieves strong Precision, Recall, F1-score, and mAP performance.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Performs only weapon detection and lacks tracking, Re-ID, behaviour analysis, threat scoring, and identity management.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dirty="0">
                          <a:effectLst/>
                        </a:rPr>
                        <a:t>Confirms YOLOv8 as an effective real-time detector but highlights the need for additional surveillance intelligence modules.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extLst>
                  <a:ext uri="{0D108BD9-81ED-4DB2-BD59-A6C34878D82A}">
                    <a16:rowId xmlns:a16="http://schemas.microsoft.com/office/drawing/2014/main" val="278985946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0745075-8E66-81E7-3F06-6675E746C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553893"/>
              </p:ext>
            </p:extLst>
          </p:nvPr>
        </p:nvGraphicFramePr>
        <p:xfrm>
          <a:off x="292511" y="432535"/>
          <a:ext cx="11250168" cy="599293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19113">
                  <a:extLst>
                    <a:ext uri="{9D8B030D-6E8A-4147-A177-3AD203B41FA5}">
                      <a16:colId xmlns:a16="http://schemas.microsoft.com/office/drawing/2014/main" val="541776261"/>
                    </a:ext>
                  </a:extLst>
                </a:gridCol>
                <a:gridCol w="1959940">
                  <a:extLst>
                    <a:ext uri="{9D8B030D-6E8A-4147-A177-3AD203B41FA5}">
                      <a16:colId xmlns:a16="http://schemas.microsoft.com/office/drawing/2014/main" val="1115199853"/>
                    </a:ext>
                  </a:extLst>
                </a:gridCol>
                <a:gridCol w="1315468">
                  <a:extLst>
                    <a:ext uri="{9D8B030D-6E8A-4147-A177-3AD203B41FA5}">
                      <a16:colId xmlns:a16="http://schemas.microsoft.com/office/drawing/2014/main" val="2551758451"/>
                    </a:ext>
                  </a:extLst>
                </a:gridCol>
                <a:gridCol w="2574682">
                  <a:extLst>
                    <a:ext uri="{9D8B030D-6E8A-4147-A177-3AD203B41FA5}">
                      <a16:colId xmlns:a16="http://schemas.microsoft.com/office/drawing/2014/main" val="1781362413"/>
                    </a:ext>
                  </a:extLst>
                </a:gridCol>
                <a:gridCol w="2353695">
                  <a:extLst>
                    <a:ext uri="{9D8B030D-6E8A-4147-A177-3AD203B41FA5}">
                      <a16:colId xmlns:a16="http://schemas.microsoft.com/office/drawing/2014/main" val="1901969164"/>
                    </a:ext>
                  </a:extLst>
                </a:gridCol>
                <a:gridCol w="2527270">
                  <a:extLst>
                    <a:ext uri="{9D8B030D-6E8A-4147-A177-3AD203B41FA5}">
                      <a16:colId xmlns:a16="http://schemas.microsoft.com/office/drawing/2014/main" val="41000148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S.No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effectLst/>
                        </a:rPr>
                        <a:t>Title of the Paper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effectLst/>
                        </a:rPr>
                        <a:t>Publication &amp; Year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Methodology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Limitations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Inferences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extLst>
                  <a:ext uri="{0D108BD9-81ED-4DB2-BD59-A6C34878D82A}">
                    <a16:rowId xmlns:a16="http://schemas.microsoft.com/office/drawing/2014/main" val="559806035"/>
                  </a:ext>
                </a:extLst>
              </a:tr>
              <a:tr h="17577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13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StrongSORT: Make DeepSORT Great Again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arXiv, 2023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dirty="0">
                          <a:effectLst/>
                        </a:rPr>
                        <a:t>Enhances DeepSORT using YOLOX-X, BoT Re-ID embeddings, EMA, ECC camera compensation, NSA Kalman Filter, AFLink, and GSI trajectory interpolation to improve multi-object tracking accuracy.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Focuses solely on tracking and assumes object detection is already available. Does not perform weapon detection, pose estimation, Re-ID across surveillance sessions, or threat analysis.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dirty="0">
                          <a:effectLst/>
                        </a:rPr>
                        <a:t>Demonstrates that enhanced association strategies significantly reduce identity switches and improve tracking robustness while maintaining real-time performance.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extLst>
                  <a:ext uri="{0D108BD9-81ED-4DB2-BD59-A6C34878D82A}">
                    <a16:rowId xmlns:a16="http://schemas.microsoft.com/office/drawing/2014/main" val="3080772828"/>
                  </a:ext>
                </a:extLst>
              </a:tr>
              <a:tr h="20006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14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Tiny Asymmetric Feature Normalized Network for Person Re-Identification System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IEEE Access, 2022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Proposes TAFN-Net using BIG normalization, IBLR SE blocks, non-local attention, random erasing, and Triplet plus Cross-Entropy losses to generate lightweight yet robust Re-ID embeddings. Evaluated on Market-1501, DukeMTMC-ReID, and GPP-ReID.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Limited to person Re-ID and does not include detection, tracking, behaviour analysis, or intelligent surveillance capabilities.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Demonstrates that advanced normalization strategies enable lightweight models to achieve competitive Re-ID accuracy with low computational cost.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extLst>
                  <a:ext uri="{0D108BD9-81ED-4DB2-BD59-A6C34878D82A}">
                    <a16:rowId xmlns:a16="http://schemas.microsoft.com/office/drawing/2014/main" val="1203634325"/>
                  </a:ext>
                </a:extLst>
              </a:tr>
              <a:tr h="17577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15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Weapon Detection with FMR-CNN and YOLOv8 for Enhanced Crime Prevention and Security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Scientific Reports (Nature Portfolio), 2025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Introduces the FMR-CNN surveillance framework combining Faster R-CNN, Mask R-CNN, YOLOv8, MobileNetV3, and MobileNetV2 for weapon detection, segmentation, behaviour assessment, and automated API-based alert generation. Achieves 98.7% accuracy and 90.1% mAP.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Does not perform person Re-ID, identity persistence, pose estimation, or weapon ownership identification. Computational complexity is high due to multiple deep models.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dirty="0">
                          <a:effectLst/>
                        </a:rPr>
                        <a:t>Demonstrates that hybrid detection and segmentation significantly improve surveillance accuracy, but additional identity management is required for intelligent surveillance.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extLst>
                  <a:ext uri="{0D108BD9-81ED-4DB2-BD59-A6C34878D82A}">
                    <a16:rowId xmlns:a16="http://schemas.microsoft.com/office/drawing/2014/main" val="278985946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9949754-8604-6D5F-F634-8C1BC286DF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401277"/>
              </p:ext>
            </p:extLst>
          </p:nvPr>
        </p:nvGraphicFramePr>
        <p:xfrm>
          <a:off x="558723" y="993058"/>
          <a:ext cx="10936902" cy="54930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04659">
                  <a:extLst>
                    <a:ext uri="{9D8B030D-6E8A-4147-A177-3AD203B41FA5}">
                      <a16:colId xmlns:a16="http://schemas.microsoft.com/office/drawing/2014/main" val="541776261"/>
                    </a:ext>
                  </a:extLst>
                </a:gridCol>
                <a:gridCol w="1905364">
                  <a:extLst>
                    <a:ext uri="{9D8B030D-6E8A-4147-A177-3AD203B41FA5}">
                      <a16:colId xmlns:a16="http://schemas.microsoft.com/office/drawing/2014/main" val="1115199853"/>
                    </a:ext>
                  </a:extLst>
                </a:gridCol>
                <a:gridCol w="1278838">
                  <a:extLst>
                    <a:ext uri="{9D8B030D-6E8A-4147-A177-3AD203B41FA5}">
                      <a16:colId xmlns:a16="http://schemas.microsoft.com/office/drawing/2014/main" val="2551758451"/>
                    </a:ext>
                  </a:extLst>
                </a:gridCol>
                <a:gridCol w="2502989">
                  <a:extLst>
                    <a:ext uri="{9D8B030D-6E8A-4147-A177-3AD203B41FA5}">
                      <a16:colId xmlns:a16="http://schemas.microsoft.com/office/drawing/2014/main" val="1781362413"/>
                    </a:ext>
                  </a:extLst>
                </a:gridCol>
                <a:gridCol w="2288155">
                  <a:extLst>
                    <a:ext uri="{9D8B030D-6E8A-4147-A177-3AD203B41FA5}">
                      <a16:colId xmlns:a16="http://schemas.microsoft.com/office/drawing/2014/main" val="1901969164"/>
                    </a:ext>
                  </a:extLst>
                </a:gridCol>
                <a:gridCol w="2456897">
                  <a:extLst>
                    <a:ext uri="{9D8B030D-6E8A-4147-A177-3AD203B41FA5}">
                      <a16:colId xmlns:a16="http://schemas.microsoft.com/office/drawing/2014/main" val="4100014887"/>
                    </a:ext>
                  </a:extLst>
                </a:gridCol>
              </a:tblGrid>
              <a:tr h="10126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S.No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effectLst/>
                        </a:rPr>
                        <a:t>Title of the Paper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Publication &amp; Year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effectLst/>
                        </a:rPr>
                        <a:t>Methodology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Limitations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Inferences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 anchor="ctr"/>
                </a:tc>
                <a:extLst>
                  <a:ext uri="{0D108BD9-81ED-4DB2-BD59-A6C34878D82A}">
                    <a16:rowId xmlns:a16="http://schemas.microsoft.com/office/drawing/2014/main" val="559806035"/>
                  </a:ext>
                </a:extLst>
              </a:tr>
              <a:tr h="22401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16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Weapon Operating Pose Detection and Suspicious Human Activity Classification Using Skeleton Graphs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Mathematical Biosciences and Engineering, 2023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dirty="0">
                          <a:effectLst/>
                        </a:rPr>
                        <a:t>Uses VGG-19 skeleton extraction, DeepSORT tracking, LSTM-RNN temporal modelling, ADAM optimization, and Kalman filtering to classify eight suspicious human activities from skeleton graphs. Generates real-time alarms for activities such as shooting, crawling, throwing, and weapon operation.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Does not explicitly detect weapons and relies on body posture. Lacks person Re-ID, multi-camera identity management, weapon ownership identification, threat scoring, evidence logging, and long-term identity preservation.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dirty="0">
                          <a:effectLst/>
                        </a:rPr>
                        <a:t>Demonstrates that combining skeleton graphs with DeepSORT and LSTM effectively recognizes suspicious activities, but remains primarily an activity recognition framework rather than a complete intelligent surveillance system.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extLst>
                  <a:ext uri="{0D108BD9-81ED-4DB2-BD59-A6C34878D82A}">
                    <a16:rowId xmlns:a16="http://schemas.microsoft.com/office/drawing/2014/main" val="56879843"/>
                  </a:ext>
                </a:extLst>
              </a:tr>
              <a:tr h="22401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effectLst/>
                        </a:rPr>
                        <a:t>17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Weapon Detection in Surveillance Videos Using YOLOv8 and PELSF-DCNN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E3S Web of Conferences (ICMED-ICMPC), 2023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dirty="0">
                          <a:effectLst/>
                        </a:rPr>
                        <a:t>Proposes a hybrid framework combining YOLOv8, Wiener Filtering, PDFMSR preprocessing, Diamond Search motion estimation, handcrafted feature extraction, CSBO optimization, and the PELSF-DCNN classifier for weapon detection. Achieves 97.5% accuracy and 95.42% mAP.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effectLst/>
                        </a:rPr>
                        <a:t>Limited to weapon detection and lacks tracking, person Re-ID, pose estimation, behaviour analysis, threat assessment, and multi-camera surveillance support. The pipeline is computationally complex due to multiple preprocessing and optimization stages.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dirty="0">
                          <a:effectLst/>
                        </a:rPr>
                        <a:t>Demonstrates that combining advanced preprocessing, handcrafted features, optimization algorithms, and YOLOv8 significantly improves weapon detection accuracy, but additional modules are required for complete intelligent surveillance.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534" marR="27534" marT="25031" marB="25031"/>
                </a:tc>
                <a:extLst>
                  <a:ext uri="{0D108BD9-81ED-4DB2-BD59-A6C34878D82A}">
                    <a16:rowId xmlns:a16="http://schemas.microsoft.com/office/drawing/2014/main" val="7882751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47094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" y="484290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&amp; How We Close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100" y="1300000"/>
            <a:ext cx="5145900" cy="155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37160" tIns="91440" rIns="137160" bIns="91440">
            <a:spAutoFit/>
          </a:bodyPr>
          <a:lstStyle/>
          <a:p>
            <a:r>
              <a:rPr sz="1300" b="1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  Weapon detected, but ownership isn't</a:t>
            </a:r>
          </a:p>
          <a:p>
            <a:pPr>
              <a:spcBef>
                <a:spcPts val="400"/>
              </a:spcBef>
            </a:pPr>
            <a:r>
              <a:rPr sz="1100" b="0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Detection-only or hand-patch-classification systems [6,10,12,15,17] never bind a weapon to a specific tracked person. Our counter: a 3-stage association cascade — wrist proximity (≤60px) → containment (≥0.30) → IoU fallback (≥0.20).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46000" y="1300000"/>
            <a:ext cx="5145900" cy="155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37160" tIns="91440" rIns="137160" bIns="91440">
            <a:spAutoFit/>
          </a:bodyPr>
          <a:lstStyle/>
          <a:p>
            <a:r>
              <a:rPr sz="1300" b="1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  Identity resets after occlusion</a:t>
            </a:r>
          </a:p>
          <a:p>
            <a:pPr>
              <a:spcBef>
                <a:spcPts val="400"/>
              </a:spcBef>
            </a:pPr>
            <a:r>
              <a:rPr sz="1100" b="0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ByteTrack, StrongSORT and skeleton-based systems [5,13,15,16] lose identity — and threat history — the moment someone leaves the frame. Our counter: an OSNet Re-ID gallery (512-d, cosine ≥0.65, fused with body-ratio, 300s memory) restores it on reappearance.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3000000"/>
            <a:ext cx="5145900" cy="155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37160" tIns="91440" rIns="137160" bIns="91440">
            <a:spAutoFit/>
          </a:bodyPr>
          <a:lstStyle/>
          <a:p>
            <a:r>
              <a:rPr sz="1300" b="1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  Siloed, single-task pipelines</a:t>
            </a:r>
          </a:p>
          <a:p>
            <a:pPr>
              <a:spcBef>
                <a:spcPts val="400"/>
              </a:spcBef>
            </a:pPr>
            <a:r>
              <a:rPr sz="1100" b="0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Detection-only, tracking-only or Re-ID-only work [1,3,4,5,6,8,9,11,12,13,14,17] never combines with the others — including a 2024 distributed edge+cloud design (7) that still cannot identify individuals and runs at only 4.43 FPS. Our counter: one real-time loop — detection → tracking → Re-ID → pose → association → threat FSM → alert.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6000" y="3000000"/>
            <a:ext cx="5145900" cy="155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37160" tIns="91440" rIns="137160" bIns="91440">
            <a:spAutoFit/>
          </a:bodyPr>
          <a:lstStyle/>
          <a:p>
            <a:r>
              <a:rPr sz="1300" b="1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  Threat output is binary, not graded</a:t>
            </a:r>
          </a:p>
          <a:p>
            <a:pPr>
              <a:spcBef>
                <a:spcPts val="400"/>
              </a:spcBef>
            </a:pPr>
            <a:r>
              <a:rPr sz="1100" b="0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FMR-CNN and skeleton-action systems [15,16] output a single coarse trigger or a “normal vs suspicious” label — no per-person severity. Our counter: a 4-level threat FSM (SAFE → CAUTION → HIGH → CRITICAL) with a 45-frame hysteresis lock, so alerts escalate instantly but never flicker.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4700000"/>
            <a:ext cx="5145900" cy="155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37160" tIns="91440" rIns="137160" bIns="91440">
            <a:spAutoFit/>
          </a:bodyPr>
          <a:lstStyle/>
          <a:p>
            <a:r>
              <a:rPr sz="1300" b="1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  Heavy pipelines don't hold real time</a:t>
            </a:r>
          </a:p>
          <a:p>
            <a:pPr>
              <a:spcBef>
                <a:spcPts val="400"/>
              </a:spcBef>
            </a:pPr>
            <a:r>
              <a:rPr sz="1100" b="0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Multi-branch or multi-stage stacks [9,15,17] pay in heavy GPU cost or ≈ 9 FPS; the distributed edge design (7) manages only 4.43 FPS. Our counter: a single-stage YOLOv8s stack with interval scheduling (weapon /3, pose /4, Re-ID /15 frames) sustains ≈30 FPS GPU / ≈10 FPS CPU.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6000" y="4700000"/>
            <a:ext cx="5145900" cy="155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lIns="137160" tIns="91440" rIns="137160" bIns="91440">
            <a:spAutoFit/>
          </a:bodyPr>
          <a:lstStyle/>
          <a:p>
            <a:r>
              <a:rPr sz="1300" b="1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06  Bottom line</a:t>
            </a:r>
          </a:p>
          <a:p>
            <a:pPr>
              <a:spcBef>
                <a:spcPts val="400"/>
              </a:spcBef>
            </a:pPr>
            <a:r>
              <a:rPr sz="1100" b="0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 papers reviewed — including a 101-paper systematic review (2) that independently confirms the field-wide gap — each solve one task in isolation. Ours is the only system that detects a weapon, identifies who holds it, remembers them across occlusion, and grades the threat, in one real-time loop.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" y="484290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— Reference Papers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38200" y="1150000"/>
          <a:ext cx="10716769" cy="54500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67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2777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Venue, Year</a:t>
                      </a:r>
                    </a:p>
                  </a:txBody>
                  <a:tcPr marL="27534" marR="27534" marT="25031" marB="25031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777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Multi-Attention Approach for Person Re-Identification Using Deep Learning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Sensors (MDPI), 2023</a:t>
                      </a:r>
                    </a:p>
                  </a:txBody>
                  <a:tcPr marL="27534" marR="27534" marT="25031" marB="2503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777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AI-Based Weapon Detection for Security Surveillance: Recent Research Advances (2016–2025)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Electronics (MDPI), 2025</a:t>
                      </a:r>
                    </a:p>
                  </a:txBody>
                  <a:tcPr marL="27534" marR="27534" marT="25031" marB="2503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777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BlazePose GHUM Holistic: Real-time 3D Human Landmarks and Pose Estimation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arXiv, 2022</a:t>
                      </a:r>
                    </a:p>
                  </a:txBody>
                  <a:tcPr marL="27534" marR="27534" marT="25031" marB="2503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777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Body Part-Based Representation Learning for Occluded Person Re-Identification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arXiv, 2022</a:t>
                      </a:r>
                    </a:p>
                  </a:txBody>
                  <a:tcPr marL="27534" marR="27534" marT="25031" marB="25031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777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ByteTrack: Multi-Object Tracking by Associating Every Detection Box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arXiv, 2022</a:t>
                      </a:r>
                    </a:p>
                  </a:txBody>
                  <a:tcPr marL="27534" marR="27534" marT="25031" marB="25031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777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 and Optimization of Deep Learning Models for Weapon Detection in Surveillance Videos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Applied Sciences (MDPI), 2022</a:t>
                      </a:r>
                    </a:p>
                  </a:txBody>
                  <a:tcPr marL="27534" marR="27534" marT="25031" marB="25031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2777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Distributed Intelligent Video Surveillance for Early Armed Robbery Detection based on Deep Learning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IEEE, 2024</a:t>
                      </a:r>
                    </a:p>
                  </a:txBody>
                  <a:tcPr marL="27534" marR="27534" marT="25031" marB="25031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2777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Human Pose Estimation Using MediaPipe Pose and Optimization Method Based on a Humanoid Model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Applied Sciences (MDPI), 2023</a:t>
                      </a:r>
                    </a:p>
                  </a:txBody>
                  <a:tcPr marL="27534" marR="27534" marT="25031" marB="25031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2777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Tran-GCN: A Transformer-Enhanced Graph Convolutional Network for Person Re-Identification in Monitoring Videos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IET Computer Vision, 2025</a:t>
                      </a:r>
                    </a:p>
                  </a:txBody>
                  <a:tcPr marL="27534" marR="27534" marT="25031" marB="25031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2777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Improving Handgun Detection Through a Combination of Visual Features and Body Pose-Based Data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Pattern Recognition (Elsevier), 2023</a:t>
                      </a:r>
                    </a:p>
                  </a:txBody>
                  <a:tcPr marL="27534" marR="27534" marT="25031" marB="25031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2777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Multi-scale and Attention Enhanced Graph Convolution Network for Skeleton-Based Violence Action Recognition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Frontiers in Neurorobotics, 2022</a:t>
                      </a:r>
                    </a:p>
                  </a:txBody>
                  <a:tcPr marL="27534" marR="27534" marT="25031" marB="25031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2777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Weapon Detection Using YOLOv8 for Enhanced Safety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arXiv, 2024</a:t>
                      </a:r>
                    </a:p>
                  </a:txBody>
                  <a:tcPr marL="27534" marR="27534" marT="25031" marB="25031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2777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StrongSORT: Make DeepSORT Great Again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arXiv, 2023</a:t>
                      </a:r>
                    </a:p>
                  </a:txBody>
                  <a:tcPr marL="27534" marR="27534" marT="25031" marB="25031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2777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Tiny Asymmetric Feature Normalized Network for Person Re-Identification System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Access, 2022</a:t>
                      </a:r>
                    </a:p>
                  </a:txBody>
                  <a:tcPr marL="27534" marR="27534" marT="25031" marB="25031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2777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Weapon Detection with FMR-CNN and YOLOv8 for Enhanced Crime Prevention and Security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Scientific Reports (Nature), 2025</a:t>
                      </a:r>
                    </a:p>
                  </a:txBody>
                  <a:tcPr marL="27534" marR="27534" marT="25031" marB="25031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2777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Weapon Operating Pose Detection and Suspicious Human Activity Classification Using Skeleton Graphs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Math. Biosciences &amp; Engineering, 2023</a:t>
                      </a:r>
                    </a:p>
                  </a:txBody>
                  <a:tcPr marL="27534" marR="27534" marT="25031" marB="25031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02791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Weapon Detection in Surveillance Videos Using YOLOv8 and PELSF-DCNN</a:t>
                      </a:r>
                    </a:p>
                  </a:txBody>
                  <a:tcPr marL="27534" marR="27534" marT="25031" marB="2503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E3S Web of Conferences, 2023</a:t>
                      </a:r>
                    </a:p>
                  </a:txBody>
                  <a:tcPr marL="27534" marR="27534" marT="25031" marB="25031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56659" y="484290"/>
            <a:ext cx="110786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Reference List"/>
          <p:cNvSpPr txBox="1"/>
          <p:nvPr/>
        </p:nvSpPr>
        <p:spPr>
          <a:xfrm>
            <a:off x="800100" y="1371600"/>
            <a:ext cx="10591800" cy="5257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/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	M. T. Bhatti, M. G. Khan, M. Aslam, and M. J. Fiaz, “Weapon Detection in Real-Time CCTV Videos Using Deep Learning,” IEEE Access, vol. 9, pp. 34366–34382, 2021, doi: 10.1109/ACCESS.2021.3059170.</a:t>
            </a:r>
          </a:p>
          <a:p>
            <a:pPr marL="342900" indent="-342900">
              <a:spcBef>
                <a:spcPts val="900"/>
              </a:spcBef>
            </a:pP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	P. Shanthi and V. Manjula, “Weapon Detection with FMR-CNN and YOLOv8 for Enhanced Crime Prevention and Security,” Scientific Reports, vol. 15, 2025, doi: 10.1038/s41598-025-07782-0.</a:t>
            </a:r>
          </a:p>
          <a:p>
            <a:pPr marL="342900" indent="-342900">
              <a:spcBef>
                <a:spcPts val="900"/>
              </a:spcBef>
            </a:pP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	K. Zhou, Y. Yang, A. Cavallaro, and T. Xiang, “Omni-Scale Feature Learning for Person Re-Identification,” Proc. IEEE/CVF International Conference on Computer Vision (ICCV), Seoul, South Korea, 2019, pp. 3702–3712, doi: 10.1109/ICCV.2019.00380.</a:t>
            </a:r>
          </a:p>
          <a:p>
            <a:pPr marL="342900" indent="-342900">
              <a:spcBef>
                <a:spcPts val="900"/>
              </a:spcBef>
            </a:pP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	D. Berardini et al., “A Deep-Learning Framework Running on Edge Devices for Handgun and Knife Detection from Indoor Video-Surveillance Cameras,” Multimedia Tools and Applications, vol. 83, no. 7, pp. 19109–19127, 2024, doi: 10.1007/s11042-023-16231-x.</a:t>
            </a:r>
          </a:p>
          <a:p>
            <a:pPr marL="342900" indent="-342900">
              <a:spcBef>
                <a:spcPts val="900"/>
              </a:spcBef>
            </a:pP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	T. Murugan et al., “AI-Based Weapon Detection for Security Surveillance: Recent Research Advances (2016–2025),” Electronics, vol. 14, no. 23, Art. 4609, 2025, doi: 10.3390/electronics14234609.</a:t>
            </a:r>
          </a:p>
          <a:p>
            <a:pPr marL="342900" indent="-342900"/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	P. Chaware, V. Dhamdhere, M. Sawane, S. Patil, P. Sarode, and K. </a:t>
            </a:r>
            <a:r>
              <a:rPr lang="en-I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Ukey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“Development of Intelligent Video Surveillance System Using Deep Learning and Convolutional Neural Networks: A Proactive Security Solution,” Engineering Proceedings, vol. 114, no. 1, Art. 11, 2025, </a:t>
            </a:r>
            <a:r>
              <a:rPr lang="en-I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10.3390/engproc2025114011.</a:t>
            </a:r>
          </a:p>
          <a:p>
            <a:pPr marL="342900" indent="-342900">
              <a:spcBef>
                <a:spcPts val="900"/>
              </a:spcBef>
            </a:pP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	A. Thakur, A. Shrivastav, R. Sharma, T. Kumar, and K. Puri, “Real-Time Weapon Detection Using YOLOv8 for Enhanced Safety,” </a:t>
            </a:r>
            <a:r>
              <a:rPr lang="en-I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arXiv:2410.19862, 2024.</a:t>
            </a:r>
          </a:p>
          <a:p>
            <a:pPr marL="342900" indent="-342900">
              <a:spcBef>
                <a:spcPts val="900"/>
              </a:spcBef>
            </a:pP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	N. </a:t>
            </a:r>
            <a:r>
              <a:rPr lang="en-I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Wojke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Bewley, and D. Paulus, “Simple Online and Realtime Tracking with a Deep Association Metric,” Proc. IEEE International Conference on Image Processing (ICIP), Beijing, China, 2017, pp. 3645–3649, </a:t>
            </a:r>
            <a:r>
              <a:rPr lang="en-I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10.1109/ICIP.2017.8296962.</a:t>
            </a:r>
          </a:p>
          <a:p>
            <a:pPr marL="342900" indent="-342900">
              <a:spcBef>
                <a:spcPts val="900"/>
              </a:spcBef>
            </a:pP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	S. Yan, Y. Xiong, and D. Lin, “Spatial Temporal Graph Convolutional Networks for Skeleton-Based Action Recognition,” Proc. AAAI Conference on Artificial Intelligence, New Orleans, LA, USA, 2018, pp. 7444–7452.</a:t>
            </a:r>
          </a:p>
          <a:p>
            <a:pPr marL="342900" indent="-342900">
              <a:spcBef>
                <a:spcPts val="900"/>
              </a:spcBef>
            </a:pP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	J. Redmon, S. </a:t>
            </a:r>
            <a:r>
              <a:rPr lang="en-I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Divvala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 </a:t>
            </a:r>
            <a:r>
              <a:rPr lang="en-I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Girshick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A. Farhadi, “You Only Look Once: Unified, Real-Time Object Detection,” Proc. IEEE Conference on Computer Vision and Pattern Recognition (CVPR), Las Vegas, NV, USA, 2016, pp. 779–788.</a:t>
            </a:r>
          </a:p>
          <a:p>
            <a:pPr marL="342900" indent="-342900">
              <a:spcBef>
                <a:spcPts val="900"/>
              </a:spcBef>
            </a:pPr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0000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mrita Vishwa Vidyapeetham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494" y="792478"/>
            <a:ext cx="5715012" cy="1267971"/>
          </a:xfrm>
          <a:prstGeom prst="rect">
            <a:avLst/>
          </a:prstGeom>
        </p:spPr>
      </p:pic>
      <p:sp>
        <p:nvSpPr>
          <p:cNvPr id="5" name="Thank You"/>
          <p:cNvSpPr txBox="1"/>
          <p:nvPr/>
        </p:nvSpPr>
        <p:spPr>
          <a:xfrm>
            <a:off x="1828800" y="2971800"/>
            <a:ext cx="8534400" cy="1143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cxnSp>
        <p:nvCxnSpPr>
          <p:cNvPr id="6" name="Divider"/>
          <p:cNvCxnSpPr/>
          <p:nvPr/>
        </p:nvCxnSpPr>
        <p:spPr>
          <a:xfrm>
            <a:off x="4876800" y="4114800"/>
            <a:ext cx="24384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am Line"/>
          <p:cNvSpPr txBox="1"/>
          <p:nvPr/>
        </p:nvSpPr>
        <p:spPr>
          <a:xfrm>
            <a:off x="1828800" y="4343400"/>
            <a:ext cx="8534400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Akash S • Harish Venkat • Krithash V</a:t>
            </a:r>
          </a:p>
        </p:txBody>
      </p:sp>
    </p:spTree>
    <p:extLst>
      <p:ext uri="{BB962C8B-B14F-4D97-AF65-F5344CB8AC3E}">
        <p14:creationId xmlns:p14="http://schemas.microsoft.com/office/powerpoint/2010/main" val="1320321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 panose="020206030504050203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 panose="020206030504050203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</TotalTime>
  <Words>4004</Words>
  <Application>Microsoft Office PowerPoint</Application>
  <PresentationFormat>Widescreen</PresentationFormat>
  <Paragraphs>290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Times New Roman</vt:lpstr>
      <vt:lpstr>Office Theme</vt:lpstr>
      <vt:lpstr>Intelligent Threat Analysis and Surveillance System Using Multi-Module AI Fusion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Literature Survey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Krithash</dc:creator>
  <cp:lastModifiedBy>Akash Sivakumar</cp:lastModifiedBy>
  <cp:revision>10</cp:revision>
  <dcterms:modified xsi:type="dcterms:W3CDTF">2026-08-11T07:59:58Z</dcterms:modified>
</cp:coreProperties>
</file>